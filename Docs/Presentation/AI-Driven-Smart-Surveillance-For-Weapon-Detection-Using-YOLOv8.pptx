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handoutMasterIdLst>
    <p:handoutMasterId r:id="rId32"/>
  </p:handoutMasterIdLst>
  <p:sldIdLst>
    <p:sldId id="257" r:id="rId5"/>
    <p:sldId id="341" r:id="rId6"/>
    <p:sldId id="353" r:id="rId7"/>
    <p:sldId id="343" r:id="rId8"/>
    <p:sldId id="344" r:id="rId9"/>
    <p:sldId id="354" r:id="rId10"/>
    <p:sldId id="364" r:id="rId11"/>
    <p:sldId id="361" r:id="rId12"/>
    <p:sldId id="362" r:id="rId13"/>
    <p:sldId id="357" r:id="rId14"/>
    <p:sldId id="345" r:id="rId15"/>
    <p:sldId id="358" r:id="rId16"/>
    <p:sldId id="366" r:id="rId17"/>
    <p:sldId id="348" r:id="rId18"/>
    <p:sldId id="347" r:id="rId19"/>
    <p:sldId id="365" r:id="rId20"/>
    <p:sldId id="370" r:id="rId21"/>
    <p:sldId id="373" r:id="rId22"/>
    <p:sldId id="374" r:id="rId23"/>
    <p:sldId id="372" r:id="rId24"/>
    <p:sldId id="371" r:id="rId25"/>
    <p:sldId id="352" r:id="rId26"/>
    <p:sldId id="369" r:id="rId27"/>
    <p:sldId id="368" r:id="rId28"/>
    <p:sldId id="359" r:id="rId29"/>
    <p:sldId id="258"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816" userDrawn="1">
          <p15:clr>
            <a:srgbClr val="A4A3A4"/>
          </p15:clr>
        </p15:guide>
        <p15:guide id="2" orient="horz" pos="38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95" autoAdjust="0"/>
    <p:restoredTop sz="94240" autoAdjust="0"/>
  </p:normalViewPr>
  <p:slideViewPr>
    <p:cSldViewPr snapToGrid="0">
      <p:cViewPr varScale="1">
        <p:scale>
          <a:sx n="80" d="100"/>
          <a:sy n="80" d="100"/>
        </p:scale>
        <p:origin x="624" y="62"/>
      </p:cViewPr>
      <p:guideLst>
        <p:guide pos="816"/>
        <p:guide orient="horz" pos="384"/>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154" y="3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A57456-157A-C12A-2FEC-91B7B9EE49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D46761-828E-1508-56BD-BAEADF3486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F95820-84BB-3447-8286-60A51307E7F2}" type="datetimeFigureOut">
              <a:rPr lang="en-US" smtClean="0"/>
              <a:t>26-May-26</a:t>
            </a:fld>
            <a:endParaRPr lang="en-US" dirty="0"/>
          </a:p>
        </p:txBody>
      </p:sp>
      <p:sp>
        <p:nvSpPr>
          <p:cNvPr id="4" name="Footer Placeholder 3">
            <a:extLst>
              <a:ext uri="{FF2B5EF4-FFF2-40B4-BE49-F238E27FC236}">
                <a16:creationId xmlns:a16="http://schemas.microsoft.com/office/drawing/2014/main" id="{CD428A7E-6B0E-809C-73D1-4B5E2FF471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89A5AA6-0C5B-430A-E0C4-C90B2F0A1C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E476440-F66F-F947-8EFC-EA5202ACFD25}" type="slidenum">
              <a:rPr lang="en-US" smtClean="0"/>
              <a:t>‹#›</a:t>
            </a:fld>
            <a:endParaRPr lang="en-US" dirty="0"/>
          </a:p>
        </p:txBody>
      </p:sp>
    </p:spTree>
    <p:extLst>
      <p:ext uri="{BB962C8B-B14F-4D97-AF65-F5344CB8AC3E}">
        <p14:creationId xmlns:p14="http://schemas.microsoft.com/office/powerpoint/2010/main" val="23371176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8FC54-6AE4-6A4A-9756-823A0F1BE5A6}" type="datetimeFigureOut">
              <a:rPr lang="en-US" smtClean="0"/>
              <a:t>26-May-26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79E9EB-07EB-9D44-9F5A-AB1FBECCDD88}" type="slidenum">
              <a:rPr lang="en-US" smtClean="0"/>
              <a:t>‹#›</a:t>
            </a:fld>
            <a:endParaRPr lang="en-US" dirty="0"/>
          </a:p>
        </p:txBody>
      </p:sp>
    </p:spTree>
    <p:extLst>
      <p:ext uri="{BB962C8B-B14F-4D97-AF65-F5344CB8AC3E}">
        <p14:creationId xmlns:p14="http://schemas.microsoft.com/office/powerpoint/2010/main" val="154675874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67766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19561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110803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5938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75853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0D699-9A25-50BA-F878-4FBF529000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CA7B56-3AF8-E10A-A236-A1E48E5E7869}"/>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94CAC406-F22D-2455-5D4B-CEF4ED13B38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35420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F42D1-7976-CDA5-C3FD-BC2D26DD98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14CAA9-8A8A-4553-50BB-2A8527CDE66F}"/>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5E274791-DAEE-59BC-DA2E-658012F43BEB}"/>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05352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3AB63-3E2B-AFC3-0C73-A0E622A2C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365EA7-05FD-6FDE-BDE6-E1EDD7A5F8CE}"/>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13B91CEA-FC03-3466-C7DF-74D824B59B09}"/>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06745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9B90B-E365-C74E-CD17-66AC473864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B6330A-11C8-0BC0-C454-DC1036F69F76}"/>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397EDC3B-B6AD-AF20-EC24-8295CE380CA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41350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758537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38125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89A6B-A785-A846-4101-1D07251D5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CCE37-8FA9-11D4-5AB1-472599B72576}"/>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9AA13DCA-5595-B8D5-D71D-9DC991B69D05}"/>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964911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51FDA-E5A8-21F9-10DD-C978A8F238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95EAF-3B5D-A9F1-7669-700C40A042D8}"/>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2CD0E6C3-B47A-BC32-81F5-0393A91B88C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744651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866098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76609C33-D605-6146-1378-F67C572F05C1}"/>
              </a:ext>
            </a:extLst>
          </p:cNvPr>
          <p:cNvSpPr/>
          <p:nvPr userDrawn="1"/>
        </p:nvSpPr>
        <p:spPr>
          <a:xfrm>
            <a:off x="0" y="0"/>
            <a:ext cx="12192000" cy="6858000"/>
          </a:xfrm>
          <a:custGeom>
            <a:avLst/>
            <a:gdLst>
              <a:gd name="connsiteX0" fmla="*/ 304800 w 12192000"/>
              <a:gd name="connsiteY0" fmla="*/ 266701 h 6858000"/>
              <a:gd name="connsiteX1" fmla="*/ 304800 w 12192000"/>
              <a:gd name="connsiteY1" fmla="*/ 6591300 h 6858000"/>
              <a:gd name="connsiteX2" fmla="*/ 11887200 w 12192000"/>
              <a:gd name="connsiteY2" fmla="*/ 6591300 h 6858000"/>
              <a:gd name="connsiteX3" fmla="*/ 11887200 w 12192000"/>
              <a:gd name="connsiteY3" fmla="*/ 266701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04800" y="266701"/>
                </a:moveTo>
                <a:lnTo>
                  <a:pt x="304800" y="6591300"/>
                </a:lnTo>
                <a:lnTo>
                  <a:pt x="11887200" y="6591300"/>
                </a:lnTo>
                <a:lnTo>
                  <a:pt x="11887200" y="266701"/>
                </a:lnTo>
                <a:close/>
                <a:moveTo>
                  <a:pt x="0" y="0"/>
                </a:moveTo>
                <a:lnTo>
                  <a:pt x="12192000" y="0"/>
                </a:lnTo>
                <a:lnTo>
                  <a:pt x="1219200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Title 8">
            <a:extLst>
              <a:ext uri="{FF2B5EF4-FFF2-40B4-BE49-F238E27FC236}">
                <a16:creationId xmlns:a16="http://schemas.microsoft.com/office/drawing/2014/main" id="{42398E06-9E0E-BC81-DEB5-1DB2F8635C23}"/>
              </a:ext>
            </a:extLst>
          </p:cNvPr>
          <p:cNvSpPr>
            <a:spLocks noGrp="1"/>
          </p:cNvSpPr>
          <p:nvPr>
            <p:ph type="title"/>
          </p:nvPr>
        </p:nvSpPr>
        <p:spPr>
          <a:xfrm>
            <a:off x="838200" y="1417320"/>
            <a:ext cx="10515600" cy="4023360"/>
          </a:xfrm>
        </p:spPr>
        <p:txBody>
          <a:bodyPr anchor="ctr"/>
          <a:lstStyle>
            <a:lvl1pPr algn="ctr">
              <a:defRPr sz="5400" spc="3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524000" y="6044184"/>
            <a:ext cx="9144000" cy="356616"/>
          </a:xfrm>
        </p:spPr>
        <p:txBody>
          <a:bodyPr/>
          <a:lstStyle>
            <a:lvl1pPr marL="0" indent="0" algn="ct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Rectangle 13">
            <a:extLst>
              <a:ext uri="{FF2B5EF4-FFF2-40B4-BE49-F238E27FC236}">
                <a16:creationId xmlns:a16="http://schemas.microsoft.com/office/drawing/2014/main" id="{6DDC5B68-548C-395D-B9A9-EA694F6CB59F}"/>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90691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F738F023-8BDF-71DB-D6AB-776F7C6413B2}"/>
              </a:ext>
            </a:extLst>
          </p:cNvPr>
          <p:cNvSpPr/>
          <p:nvPr userDrawn="1"/>
        </p:nvSpPr>
        <p:spPr>
          <a:xfrm>
            <a:off x="8610600" y="0"/>
            <a:ext cx="3581400" cy="6858000"/>
          </a:xfrm>
          <a:custGeom>
            <a:avLst/>
            <a:gdLst>
              <a:gd name="connsiteX0" fmla="*/ 0 w 3581400"/>
              <a:gd name="connsiteY0" fmla="*/ 0 h 6858000"/>
              <a:gd name="connsiteX1" fmla="*/ 3581400 w 3581400"/>
              <a:gd name="connsiteY1" fmla="*/ 0 h 6858000"/>
              <a:gd name="connsiteX2" fmla="*/ 3581400 w 3581400"/>
              <a:gd name="connsiteY2" fmla="*/ 6858000 h 6858000"/>
              <a:gd name="connsiteX3" fmla="*/ 0 w 3581400"/>
              <a:gd name="connsiteY3" fmla="*/ 6858000 h 6858000"/>
              <a:gd name="connsiteX4" fmla="*/ 0 w 3581400"/>
              <a:gd name="connsiteY4" fmla="*/ 6172201 h 6858000"/>
              <a:gd name="connsiteX5" fmla="*/ 2971800 w 3581400"/>
              <a:gd name="connsiteY5" fmla="*/ 6172201 h 6858000"/>
              <a:gd name="connsiteX6" fmla="*/ 2971800 w 3581400"/>
              <a:gd name="connsiteY6" fmla="*/ 685800 h 6858000"/>
              <a:gd name="connsiteX7" fmla="*/ 0 w 3581400"/>
              <a:gd name="connsiteY7" fmla="*/ 685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1400" h="6858000">
                <a:moveTo>
                  <a:pt x="0" y="0"/>
                </a:moveTo>
                <a:lnTo>
                  <a:pt x="3581400" y="0"/>
                </a:lnTo>
                <a:lnTo>
                  <a:pt x="3581400" y="6858000"/>
                </a:lnTo>
                <a:lnTo>
                  <a:pt x="0" y="6858000"/>
                </a:lnTo>
                <a:lnTo>
                  <a:pt x="0" y="6172201"/>
                </a:lnTo>
                <a:lnTo>
                  <a:pt x="2971800" y="6172201"/>
                </a:lnTo>
                <a:lnTo>
                  <a:pt x="2971800" y="685800"/>
                </a:lnTo>
                <a:lnTo>
                  <a:pt x="0" y="6858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80160" y="1097280"/>
            <a:ext cx="4114800" cy="2286000"/>
          </a:xfrm>
        </p:spPr>
        <p:txBody>
          <a:bodyPr/>
          <a:lstStyle>
            <a:lvl1pPr>
              <a:defRPr sz="3200"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80160" y="3566160"/>
            <a:ext cx="4114800" cy="2651760"/>
          </a:xfrm>
        </p:spPr>
        <p:txBody>
          <a:bodyPr>
            <a:normAutofit/>
          </a:bodyPr>
          <a:lstStyle>
            <a:lvl1pPr marL="457200" indent="-457200">
              <a:lnSpc>
                <a:spcPct val="100000"/>
              </a:lnSpc>
              <a:spcBef>
                <a:spcPts val="1400"/>
              </a:spcBef>
              <a:buClr>
                <a:schemeClr val="accent1"/>
              </a:buClr>
              <a:buFont typeface="Courier New" panose="02070309020205020404" pitchFamily="49" charset="0"/>
              <a:buChar char="o"/>
              <a:defRPr sz="2400" cap="all" spc="0" baseline="0"/>
            </a:lvl1pPr>
            <a:lvl2pPr marL="914400">
              <a:defRPr spc="0" baseline="0"/>
            </a:lvl2pPr>
            <a:lvl3pPr marL="1371600">
              <a:defRPr spc="0" baseline="0"/>
            </a:lvl3pPr>
            <a:lvl4pPr marL="1828800">
              <a:defRPr spc="0" baseline="0"/>
            </a:lvl4pPr>
            <a:lvl5pPr marL="2286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5687568" y="1435608"/>
            <a:ext cx="5897880" cy="3977640"/>
          </a:xfrm>
          <a:noFill/>
        </p:spPr>
        <p:txBody>
          <a:bodyPr anchor="ctr"/>
          <a:lstStyle>
            <a:lvl1pPr marL="0" indent="0" algn="ctr">
              <a:buNone/>
              <a:defRPr/>
            </a:lvl1pPr>
          </a:lstStyle>
          <a:p>
            <a:r>
              <a:rPr lang="en-US" dirty="0"/>
              <a:t>Click icon to add picture</a:t>
            </a:r>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cxnSp>
        <p:nvCxnSpPr>
          <p:cNvPr id="13" name="Straight Connector 12">
            <a:extLst>
              <a:ext uri="{FF2B5EF4-FFF2-40B4-BE49-F238E27FC236}">
                <a16:creationId xmlns:a16="http://schemas.microsoft.com/office/drawing/2014/main" id="{323EB7E3-3953-BAB4-1B15-383082C6C31E}"/>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816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841248" y="2697480"/>
            <a:ext cx="10515600" cy="2606040"/>
          </a:xfrm>
        </p:spPr>
        <p:txBody>
          <a:bodyPr anchor="ctr">
            <a:normAutofit/>
          </a:bodyPr>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841248" y="6044184"/>
            <a:ext cx="10515600" cy="457200"/>
          </a:xfrm>
        </p:spPr>
        <p:txBody>
          <a:bodyPr>
            <a:norm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0" y="0"/>
            <a:ext cx="12188952" cy="2368296"/>
          </a:xfrm>
        </p:spPr>
        <p:txBody>
          <a:bodyPr/>
          <a:lstStyle>
            <a:lvl1pPr marL="0" indent="0">
              <a:buNone/>
              <a:defRPr/>
            </a:lvl1pPr>
          </a:lstStyle>
          <a:p>
            <a:r>
              <a:rPr lang="en-US" dirty="0"/>
              <a:t>Click icon to add picture</a:t>
            </a:r>
          </a:p>
        </p:txBody>
      </p:sp>
      <p:sp>
        <p:nvSpPr>
          <p:cNvPr id="12" name="Rectangle 11">
            <a:extLst>
              <a:ext uri="{FF2B5EF4-FFF2-40B4-BE49-F238E27FC236}">
                <a16:creationId xmlns:a16="http://schemas.microsoft.com/office/drawing/2014/main" id="{103AD4F0-8C4C-FC68-2450-06419A6D0131}"/>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2159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A510974D-B222-2876-052D-21F0E075D288}"/>
              </a:ext>
            </a:extLst>
          </p:cNvPr>
          <p:cNvSpPr/>
          <p:nvPr userDrawn="1"/>
        </p:nvSpPr>
        <p:spPr>
          <a:xfrm>
            <a:off x="0" y="0"/>
            <a:ext cx="12192000" cy="4457700"/>
          </a:xfrm>
          <a:custGeom>
            <a:avLst/>
            <a:gdLst>
              <a:gd name="connsiteX0" fmla="*/ 0 w 12192000"/>
              <a:gd name="connsiteY0" fmla="*/ 0 h 4457700"/>
              <a:gd name="connsiteX1" fmla="*/ 12192000 w 12192000"/>
              <a:gd name="connsiteY1" fmla="*/ 0 h 4457700"/>
              <a:gd name="connsiteX2" fmla="*/ 12192000 w 12192000"/>
              <a:gd name="connsiteY2" fmla="*/ 4457700 h 4457700"/>
              <a:gd name="connsiteX3" fmla="*/ 11563350 w 12192000"/>
              <a:gd name="connsiteY3" fmla="*/ 4457700 h 4457700"/>
              <a:gd name="connsiteX4" fmla="*/ 11563350 w 12192000"/>
              <a:gd name="connsiteY4" fmla="*/ 685800 h 4457700"/>
              <a:gd name="connsiteX5" fmla="*/ 628650 w 12192000"/>
              <a:gd name="connsiteY5" fmla="*/ 685800 h 4457700"/>
              <a:gd name="connsiteX6" fmla="*/ 628650 w 12192000"/>
              <a:gd name="connsiteY6" fmla="*/ 4457700 h 4457700"/>
              <a:gd name="connsiteX7" fmla="*/ 0 w 12192000"/>
              <a:gd name="connsiteY7" fmla="*/ 445770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457700">
                <a:moveTo>
                  <a:pt x="0" y="0"/>
                </a:moveTo>
                <a:lnTo>
                  <a:pt x="12192000" y="0"/>
                </a:lnTo>
                <a:lnTo>
                  <a:pt x="12192000" y="4457700"/>
                </a:lnTo>
                <a:lnTo>
                  <a:pt x="11563350" y="4457700"/>
                </a:lnTo>
                <a:lnTo>
                  <a:pt x="11563350" y="685800"/>
                </a:lnTo>
                <a:lnTo>
                  <a:pt x="628650" y="685800"/>
                </a:lnTo>
                <a:lnTo>
                  <a:pt x="628650" y="4457700"/>
                </a:lnTo>
                <a:lnTo>
                  <a:pt x="0" y="44577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978408" y="1143000"/>
            <a:ext cx="10241280" cy="22860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2075688" y="3803904"/>
            <a:ext cx="8046720" cy="9144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Rectangle 15">
            <a:extLst>
              <a:ext uri="{FF2B5EF4-FFF2-40B4-BE49-F238E27FC236}">
                <a16:creationId xmlns:a16="http://schemas.microsoft.com/office/drawing/2014/main" id="{8A1A471A-8A28-B00F-72E9-849D5E6B7257}"/>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3528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BB82FF-5339-5456-4D30-0C2DA7907AAE}"/>
              </a:ext>
            </a:extLst>
          </p:cNvPr>
          <p:cNvSpPr/>
          <p:nvPr userDrawn="1"/>
        </p:nvSpPr>
        <p:spPr>
          <a:xfrm>
            <a:off x="0" y="0"/>
            <a:ext cx="356616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5340096" y="1097280"/>
            <a:ext cx="6217920" cy="1828800"/>
          </a:xfrm>
        </p:spPr>
        <p:txBody>
          <a:bodyPr/>
          <a:lstStyle>
            <a:lvl1pPr>
              <a:defRPr sz="3200" spc="3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2C39A257-2366-FF6B-67AD-9342B6B0B682}"/>
              </a:ext>
            </a:extLst>
          </p:cNvPr>
          <p:cNvSpPr>
            <a:spLocks noGrp="1"/>
          </p:cNvSpPr>
          <p:nvPr>
            <p:ph type="pic" sz="quarter" idx="13"/>
          </p:nvPr>
        </p:nvSpPr>
        <p:spPr>
          <a:xfrm>
            <a:off x="1298448" y="1828800"/>
            <a:ext cx="3200400" cy="3200400"/>
          </a:xfrm>
          <a:prstGeom prst="ellipse">
            <a:avLst/>
          </a:prstGeom>
        </p:spPr>
        <p:txBody>
          <a:bodyPr/>
          <a:lstStyle>
            <a:lvl1pPr marL="0" indent="0">
              <a:buNone/>
              <a:defRPr/>
            </a:lvl1pPr>
          </a:lstStyle>
          <a:p>
            <a:r>
              <a:rPr lang="en-US" dirty="0"/>
              <a:t>Click icon to add picture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5340096" y="3429000"/>
            <a:ext cx="6217920" cy="2743200"/>
          </a:xfrm>
        </p:spPr>
        <p:txBody>
          <a:bodyPr>
            <a:normAutofit/>
          </a:bodyPr>
          <a:lstStyle>
            <a:lvl1pPr marL="457200">
              <a:spcBef>
                <a:spcPts val="1400"/>
              </a:spcBef>
              <a:buSzPct val="80000"/>
              <a:defRPr cap="all" spc="0" baseline="0"/>
            </a:lvl1pPr>
            <a:lvl2pPr marL="914400">
              <a:buSzPct val="80000"/>
              <a:defRPr spc="0" baseline="0"/>
            </a:lvl2pPr>
            <a:lvl3pPr marL="1371600">
              <a:buSzPct val="80000"/>
              <a:defRPr spc="0" baseline="0"/>
            </a:lvl3pPr>
            <a:lvl4pPr marL="1828800">
              <a:buSzPct val="80000"/>
              <a:defRPr spc="0" baseline="0"/>
            </a:lvl4pPr>
            <a:lvl5pPr marL="2286000">
              <a:buSzPct val="80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cxnSp>
        <p:nvCxnSpPr>
          <p:cNvPr id="5" name="Straight Connector 4">
            <a:extLst>
              <a:ext uri="{FF2B5EF4-FFF2-40B4-BE49-F238E27FC236}">
                <a16:creationId xmlns:a16="http://schemas.microsoft.com/office/drawing/2014/main" id="{ADA4A755-28B6-5A01-94AB-C3CCC4368885}"/>
              </a:ext>
            </a:extLst>
          </p:cNvPr>
          <p:cNvCxnSpPr>
            <a:cxnSpLocks/>
          </p:cNvCxnSpPr>
          <p:nvPr userDrawn="1"/>
        </p:nvCxnSpPr>
        <p:spPr>
          <a:xfrm>
            <a:off x="5340096"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1339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1524000" y="1481328"/>
            <a:ext cx="9144000" cy="3895344"/>
          </a:xfrm>
          <a:solidFill>
            <a:schemeClr val="bg1"/>
          </a:solidFill>
        </p:spPr>
        <p:txBody>
          <a:bodyPr/>
          <a:lstStyle>
            <a:lvl1pPr marL="0" indent="0">
              <a:buNone/>
              <a:defRPr/>
            </a:lvl1pPr>
          </a:lstStyle>
          <a:p>
            <a:r>
              <a:rPr lang="en-US" dirty="0"/>
              <a:t>Click icon to add picture</a:t>
            </a:r>
          </a:p>
        </p:txBody>
      </p:sp>
      <p:sp>
        <p:nvSpPr>
          <p:cNvPr id="11" name="Title 1">
            <a:extLst>
              <a:ext uri="{FF2B5EF4-FFF2-40B4-BE49-F238E27FC236}">
                <a16:creationId xmlns:a16="http://schemas.microsoft.com/office/drawing/2014/main" id="{076C4EAC-BBDE-1963-BD72-3BD2A47DC59C}"/>
              </a:ext>
            </a:extLst>
          </p:cNvPr>
          <p:cNvSpPr>
            <a:spLocks noGrp="1"/>
          </p:cNvSpPr>
          <p:nvPr>
            <p:ph type="ctrTitle"/>
          </p:nvPr>
        </p:nvSpPr>
        <p:spPr>
          <a:xfrm>
            <a:off x="1984248" y="1920240"/>
            <a:ext cx="8229600" cy="3017520"/>
          </a:xfrm>
        </p:spPr>
        <p:txBody>
          <a:bodyPr anchor="ctr"/>
          <a:lstStyle>
            <a:lvl1pPr algn="ctr">
              <a:defRPr sz="5400"/>
            </a:lvl1pPr>
          </a:lstStyle>
          <a:p>
            <a:r>
              <a:rPr lang="en-US"/>
              <a:t>Click to edit Master title style</a:t>
            </a:r>
            <a:endParaRPr lang="en-US" dirty="0"/>
          </a:p>
        </p:txBody>
      </p:sp>
    </p:spTree>
    <p:extLst>
      <p:ext uri="{BB962C8B-B14F-4D97-AF65-F5344CB8AC3E}">
        <p14:creationId xmlns:p14="http://schemas.microsoft.com/office/powerpoint/2010/main" val="2415483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BCF04C-49F6-66E8-41A0-B3C371944EA1}"/>
              </a:ext>
            </a:extLst>
          </p:cNvPr>
          <p:cNvSpPr/>
          <p:nvPr userDrawn="1"/>
        </p:nvSpPr>
        <p:spPr>
          <a:xfrm>
            <a:off x="6705600" y="0"/>
            <a:ext cx="5486400"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3931920"/>
            <a:ext cx="5029200" cy="1828800"/>
          </a:xfrm>
        </p:spPr>
        <p:txBody>
          <a:bodyPr anchor="b" anchorCtr="0"/>
          <a:lstStyle>
            <a:lvl1pPr>
              <a:defRPr sz="3200"/>
            </a:lvl1pPr>
          </a:lstStyle>
          <a:p>
            <a:r>
              <a:rPr lang="en-US"/>
              <a:t>Click to edit Master title style</a:t>
            </a:r>
            <a:endParaRPr lang="en-US" dirty="0"/>
          </a:p>
        </p:txBody>
      </p:sp>
      <p:sp>
        <p:nvSpPr>
          <p:cNvPr id="9" name="Picture Placeholder 7">
            <a:extLst>
              <a:ext uri="{FF2B5EF4-FFF2-40B4-BE49-F238E27FC236}">
                <a16:creationId xmlns:a16="http://schemas.microsoft.com/office/drawing/2014/main" id="{DDE351D0-FB9C-3473-AF28-52927741728E}"/>
              </a:ext>
            </a:extLst>
          </p:cNvPr>
          <p:cNvSpPr>
            <a:spLocks noGrp="1"/>
          </p:cNvSpPr>
          <p:nvPr>
            <p:ph type="pic" sz="quarter" idx="14"/>
          </p:nvPr>
        </p:nvSpPr>
        <p:spPr>
          <a:xfrm>
            <a:off x="1280160" y="548640"/>
            <a:ext cx="3017520" cy="3017520"/>
          </a:xfrm>
          <a:prstGeom prst="ellipse">
            <a:avLst/>
          </a:prstGeom>
        </p:spPr>
        <p:txBody>
          <a:bodyPr/>
          <a:lstStyle>
            <a:lvl1pPr marL="0" indent="0">
              <a:buNone/>
              <a:defRPr/>
            </a:lvl1pPr>
          </a:lstStyle>
          <a:p>
            <a:r>
              <a:rPr lang="en-US" dirty="0"/>
              <a:t>Click icon to add picture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7205472" y="731520"/>
            <a:ext cx="4306824" cy="5394960"/>
          </a:xfrm>
        </p:spPr>
        <p:txBody>
          <a:bodyPr anchor="b">
            <a:normAutofit/>
          </a:bodyPr>
          <a:lstStyle>
            <a:lvl1pPr marL="457200">
              <a:spcBef>
                <a:spcPts val="1400"/>
              </a:spcBef>
              <a:buClr>
                <a:schemeClr val="tx1"/>
              </a:buClr>
              <a:buSzPct val="80000"/>
              <a:defRPr cap="all" baseline="0"/>
            </a:lvl1pPr>
            <a:lvl2pPr marL="914400">
              <a:buClr>
                <a:schemeClr val="tx1"/>
              </a:buClr>
              <a:buSzPct val="80000"/>
              <a:defRPr/>
            </a:lvl2pPr>
            <a:lvl3pPr marL="1371600">
              <a:buClr>
                <a:schemeClr val="tx1"/>
              </a:buClr>
              <a:buSzPct val="80000"/>
              <a:defRPr/>
            </a:lvl3pPr>
            <a:lvl4pPr marL="1828800">
              <a:buClr>
                <a:schemeClr val="tx1"/>
              </a:buClr>
              <a:buSzPct val="80000"/>
              <a:defRPr/>
            </a:lvl4pPr>
            <a:lvl5pPr marL="2286000">
              <a:buClr>
                <a:schemeClr val="tx1"/>
              </a:buClr>
              <a:buSzPct val="8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10" name="Straight Connector 9">
            <a:extLst>
              <a:ext uri="{FF2B5EF4-FFF2-40B4-BE49-F238E27FC236}">
                <a16:creationId xmlns:a16="http://schemas.microsoft.com/office/drawing/2014/main" id="{C1171EC5-29BE-C106-1E9B-0CBDB598A131}"/>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6214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light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1097280"/>
            <a:ext cx="9821955" cy="9144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280160" y="2377440"/>
            <a:ext cx="4663440" cy="3566160"/>
          </a:xfrm>
          <a:solidFill>
            <a:schemeClr val="accent1">
              <a:lumMod val="20000"/>
              <a:lumOff val="80000"/>
            </a:schemeClr>
          </a:solidFill>
        </p:spPr>
        <p:txBody>
          <a:bodyPr lIns="365760" tIns="365760" rIns="365760" bIns="365760">
            <a:normAutofit/>
          </a:bodyPr>
          <a:lstStyle>
            <a:lvl1pPr marL="457200">
              <a:lnSpc>
                <a:spcPct val="90000"/>
              </a:lnSpc>
              <a:spcBef>
                <a:spcPts val="1400"/>
              </a:spcBef>
              <a:buClr>
                <a:schemeClr val="tx1"/>
              </a:buClr>
              <a:buSzPct val="80000"/>
              <a:defRPr sz="1800"/>
            </a:lvl1pPr>
            <a:lvl2pPr marL="914400">
              <a:lnSpc>
                <a:spcPct val="90000"/>
              </a:lnSpc>
              <a:buClr>
                <a:schemeClr val="tx1"/>
              </a:buClr>
              <a:buSzPct val="80000"/>
              <a:defRPr sz="1600"/>
            </a:lvl2pPr>
            <a:lvl3pPr marL="1371600">
              <a:lnSpc>
                <a:spcPct val="90000"/>
              </a:lnSpc>
              <a:buClr>
                <a:schemeClr val="tx1"/>
              </a:buClr>
              <a:buSzPct val="80000"/>
              <a:defRPr sz="1400"/>
            </a:lvl3pPr>
            <a:lvl4pPr marL="1828800">
              <a:lnSpc>
                <a:spcPct val="90000"/>
              </a:lnSpc>
              <a:buClr>
                <a:schemeClr val="tx1"/>
              </a:buClr>
              <a:buSzPct val="80000"/>
              <a:defRPr sz="1200"/>
            </a:lvl4pPr>
            <a:lvl5pPr marL="2286000">
              <a:lnSpc>
                <a:spcPct val="90000"/>
              </a:lnSpc>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309360" y="2377440"/>
            <a:ext cx="4663440" cy="3566160"/>
          </a:xfrm>
          <a:solidFill>
            <a:schemeClr val="accent1">
              <a:lumMod val="20000"/>
              <a:lumOff val="80000"/>
            </a:schemeClr>
          </a:solidFill>
        </p:spPr>
        <p:txBody>
          <a:bodyPr lIns="365760" tIns="365760" rIns="365760" bIns="365760">
            <a:normAutofit/>
          </a:bodyPr>
          <a:lstStyle>
            <a:lvl1pPr marL="457200">
              <a:lnSpc>
                <a:spcPct val="90000"/>
              </a:lnSpc>
              <a:spcBef>
                <a:spcPts val="1400"/>
              </a:spcBef>
              <a:buClr>
                <a:schemeClr val="tx1"/>
              </a:buClr>
              <a:buSzPct val="80000"/>
              <a:defRPr sz="1800"/>
            </a:lvl1pPr>
            <a:lvl2pPr marL="914400">
              <a:lnSpc>
                <a:spcPct val="90000"/>
              </a:lnSpc>
              <a:buClr>
                <a:schemeClr val="tx1"/>
              </a:buClr>
              <a:buSzPct val="80000"/>
              <a:defRPr sz="1600"/>
            </a:lvl2pPr>
            <a:lvl3pPr marL="1371600">
              <a:lnSpc>
                <a:spcPct val="90000"/>
              </a:lnSpc>
              <a:buClr>
                <a:schemeClr val="tx1"/>
              </a:buClr>
              <a:buSzPct val="80000"/>
              <a:defRPr sz="1400"/>
            </a:lvl3pPr>
            <a:lvl4pPr marL="1828800">
              <a:lnSpc>
                <a:spcPct val="90000"/>
              </a:lnSpc>
              <a:buClr>
                <a:schemeClr val="tx1"/>
              </a:buClr>
              <a:buSzPct val="80000"/>
              <a:defRPr sz="1200"/>
            </a:lvl4pPr>
            <a:lvl5pPr marL="2286000">
              <a:lnSpc>
                <a:spcPct val="90000"/>
              </a:lnSpc>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8" name="Straight Connector 7">
            <a:extLst>
              <a:ext uri="{FF2B5EF4-FFF2-40B4-BE49-F238E27FC236}">
                <a16:creationId xmlns:a16="http://schemas.microsoft.com/office/drawing/2014/main" id="{941554B7-BB36-76F6-DD79-11088AA69E8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108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itle 1">
            <a:extLst>
              <a:ext uri="{FF2B5EF4-FFF2-40B4-BE49-F238E27FC236}">
                <a16:creationId xmlns:a16="http://schemas.microsoft.com/office/drawing/2014/main" id="{89BC2AC2-003C-AACD-1271-F2F8FBE8FD3D}"/>
              </a:ext>
            </a:extLst>
          </p:cNvPr>
          <p:cNvSpPr>
            <a:spLocks noGrp="1"/>
          </p:cNvSpPr>
          <p:nvPr>
            <p:ph type="title"/>
          </p:nvPr>
        </p:nvSpPr>
        <p:spPr>
          <a:xfrm>
            <a:off x="1280160" y="1097280"/>
            <a:ext cx="5029200" cy="1828800"/>
          </a:xfrm>
        </p:spPr>
        <p:txBody>
          <a:bodyPr anchor="t" anchorCtr="0"/>
          <a:lstStyle>
            <a:lvl1pPr>
              <a:defRPr sz="32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DD758F50-A87C-F2A1-40E8-08F07081E9C3}"/>
              </a:ext>
            </a:extLst>
          </p:cNvPr>
          <p:cNvSpPr>
            <a:spLocks noGrp="1"/>
          </p:cNvSpPr>
          <p:nvPr>
            <p:ph sz="half" idx="1"/>
          </p:nvPr>
        </p:nvSpPr>
        <p:spPr>
          <a:xfrm>
            <a:off x="6784848" y="1097280"/>
            <a:ext cx="4572000" cy="1828800"/>
          </a:xfrm>
          <a:noFill/>
        </p:spPr>
        <p:txBody>
          <a:bodyPr lIns="0" tIns="0" rIns="0" bIns="0">
            <a:normAutofit/>
          </a:bodyPr>
          <a:lstStyle>
            <a:lvl1pPr marL="457200">
              <a:spcBef>
                <a:spcPts val="1400"/>
              </a:spcBef>
              <a:buSzPct val="80000"/>
              <a:defRPr sz="1800"/>
            </a:lvl1pPr>
            <a:lvl2pPr marL="914400">
              <a:buSzPct val="80000"/>
              <a:defRPr sz="1600"/>
            </a:lvl2pPr>
            <a:lvl3pPr marL="1371600">
              <a:buSzPct val="80000"/>
              <a:defRPr sz="1400"/>
            </a:lvl3pPr>
            <a:lvl4pPr marL="1828800">
              <a:buSzPct val="80000"/>
              <a:defRPr sz="1200"/>
            </a:lvl4pPr>
            <a:lvl5pPr marL="2286000">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3">
            <a:extLst>
              <a:ext uri="{FF2B5EF4-FFF2-40B4-BE49-F238E27FC236}">
                <a16:creationId xmlns:a16="http://schemas.microsoft.com/office/drawing/2014/main" id="{023B02AB-1DB6-AF79-E1B3-175C76BE57ED}"/>
              </a:ext>
            </a:extLst>
          </p:cNvPr>
          <p:cNvSpPr>
            <a:spLocks noGrp="1"/>
          </p:cNvSpPr>
          <p:nvPr>
            <p:ph sz="half" idx="2"/>
          </p:nvPr>
        </p:nvSpPr>
        <p:spPr>
          <a:xfrm>
            <a:off x="1280160" y="3172968"/>
            <a:ext cx="10076688" cy="3108960"/>
          </a:xfrm>
          <a:noFill/>
        </p:spPr>
        <p:txBody>
          <a:bodyPr lIns="0" tIns="0" rIns="0" bIns="0">
            <a:normAutofit/>
          </a:bodyPr>
          <a:lstStyle>
            <a:lvl1pPr marL="457200">
              <a:spcBef>
                <a:spcPts val="1400"/>
              </a:spcBef>
              <a:buSzPct val="80000"/>
              <a:defRPr sz="1800"/>
            </a:lvl1pPr>
            <a:lvl2pPr marL="914400">
              <a:buSzPct val="80000"/>
              <a:defRPr sz="1600"/>
            </a:lvl2pPr>
            <a:lvl3pPr marL="1371600">
              <a:buSzPct val="80000"/>
              <a:defRPr sz="1400"/>
            </a:lvl3pPr>
            <a:lvl4pPr marL="1828800">
              <a:buSzPct val="80000"/>
              <a:defRPr sz="1200"/>
            </a:lvl4pPr>
            <a:lvl5pPr marL="2286000">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C2041A78-2CBE-4D73-EF5D-E65139C79DC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774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whit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itle 1">
            <a:extLst>
              <a:ext uri="{FF2B5EF4-FFF2-40B4-BE49-F238E27FC236}">
                <a16:creationId xmlns:a16="http://schemas.microsoft.com/office/drawing/2014/main" id="{89BC2AC2-003C-AACD-1271-F2F8FBE8FD3D}"/>
              </a:ext>
            </a:extLst>
          </p:cNvPr>
          <p:cNvSpPr>
            <a:spLocks noGrp="1"/>
          </p:cNvSpPr>
          <p:nvPr>
            <p:ph type="title"/>
          </p:nvPr>
        </p:nvSpPr>
        <p:spPr>
          <a:xfrm>
            <a:off x="1280160" y="1097280"/>
            <a:ext cx="9820656" cy="914400"/>
          </a:xfrm>
        </p:spPr>
        <p:txBody>
          <a:bodyPr anchor="t" anchorCtr="0"/>
          <a:lstStyle>
            <a:lvl1pPr>
              <a:defRPr sz="32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DD758F50-A87C-F2A1-40E8-08F07081E9C3}"/>
              </a:ext>
            </a:extLst>
          </p:cNvPr>
          <p:cNvSpPr>
            <a:spLocks noGrp="1"/>
          </p:cNvSpPr>
          <p:nvPr>
            <p:ph sz="half" idx="1"/>
          </p:nvPr>
        </p:nvSpPr>
        <p:spPr>
          <a:xfrm>
            <a:off x="1280160" y="2377440"/>
            <a:ext cx="4572000" cy="3429000"/>
          </a:xfrm>
          <a:noFill/>
        </p:spPr>
        <p:txBody>
          <a:bodyPr lIns="0" tIns="0" rIns="0" bIns="0">
            <a:normAutofit/>
          </a:bodyPr>
          <a:lstStyle>
            <a:lvl1pPr marL="228600" indent="-228600">
              <a:lnSpc>
                <a:spcPct val="90000"/>
              </a:lnSpc>
              <a:spcBef>
                <a:spcPts val="1400"/>
              </a:spcBef>
              <a:buSzPct val="80000"/>
              <a:defRPr sz="1800" b="1"/>
            </a:lvl1pPr>
            <a:lvl2pPr marL="457200" indent="0">
              <a:lnSpc>
                <a:spcPct val="90000"/>
              </a:lnSpc>
              <a:spcBef>
                <a:spcPts val="1400"/>
              </a:spcBef>
              <a:buSzPct val="80000"/>
              <a:buNone/>
              <a:defRPr sz="1800"/>
            </a:lvl2pPr>
            <a:lvl3pPr marL="914400">
              <a:lnSpc>
                <a:spcPct val="90000"/>
              </a:lnSpc>
              <a:spcBef>
                <a:spcPts val="1400"/>
              </a:spcBef>
              <a:buSzPct val="80000"/>
              <a:defRPr sz="1800"/>
            </a:lvl3pPr>
            <a:lvl4pPr marL="914400" indent="0">
              <a:lnSpc>
                <a:spcPct val="90000"/>
              </a:lnSpc>
              <a:spcBef>
                <a:spcPts val="1400"/>
              </a:spcBef>
              <a:buSzPct val="80000"/>
              <a:buNone/>
              <a:defRPr sz="1800"/>
            </a:lvl4pPr>
            <a:lvl5pPr marL="1371600">
              <a:lnSpc>
                <a:spcPct val="90000"/>
              </a:lnSpc>
              <a:spcBef>
                <a:spcPts val="1400"/>
              </a:spcBef>
              <a:buSzPct val="8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3">
            <a:extLst>
              <a:ext uri="{FF2B5EF4-FFF2-40B4-BE49-F238E27FC236}">
                <a16:creationId xmlns:a16="http://schemas.microsoft.com/office/drawing/2014/main" id="{023B02AB-1DB6-AF79-E1B3-175C76BE57ED}"/>
              </a:ext>
            </a:extLst>
          </p:cNvPr>
          <p:cNvSpPr>
            <a:spLocks noGrp="1"/>
          </p:cNvSpPr>
          <p:nvPr>
            <p:ph sz="half" idx="2"/>
          </p:nvPr>
        </p:nvSpPr>
        <p:spPr>
          <a:xfrm>
            <a:off x="6227064" y="2377440"/>
            <a:ext cx="4645152" cy="3429000"/>
          </a:xfrm>
          <a:noFill/>
        </p:spPr>
        <p:txBody>
          <a:bodyPr lIns="0" tIns="0" rIns="0" bIns="0">
            <a:normAutofit/>
          </a:bodyPr>
          <a:lstStyle>
            <a:lvl1pPr marL="457200">
              <a:spcBef>
                <a:spcPts val="1400"/>
              </a:spcBef>
              <a:buSzPct val="80000"/>
              <a:defRPr sz="1800"/>
            </a:lvl1pPr>
            <a:lvl2pPr marL="914400">
              <a:buSzPct val="80000"/>
              <a:defRPr sz="1800"/>
            </a:lvl2pPr>
            <a:lvl3pPr marL="1371600">
              <a:buSzPct val="80000"/>
              <a:defRPr sz="1800"/>
            </a:lvl3pPr>
            <a:lvl4pPr marL="1828800">
              <a:buSzPct val="80000"/>
              <a:defRPr sz="1800"/>
            </a:lvl4pPr>
            <a:lvl5pPr marL="2286000">
              <a:buSzPct val="8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C2041A78-2CBE-4D73-EF5D-E65139C79DC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2424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Title 1">
            <a:extLst>
              <a:ext uri="{FF2B5EF4-FFF2-40B4-BE49-F238E27FC236}">
                <a16:creationId xmlns:a16="http://schemas.microsoft.com/office/drawing/2014/main" id="{A659BA83-0C6E-2A70-AED3-E386CABE654A}"/>
              </a:ext>
            </a:extLst>
          </p:cNvPr>
          <p:cNvSpPr>
            <a:spLocks noGrp="1"/>
          </p:cNvSpPr>
          <p:nvPr>
            <p:ph type="title"/>
          </p:nvPr>
        </p:nvSpPr>
        <p:spPr>
          <a:xfrm>
            <a:off x="1280160" y="1097280"/>
            <a:ext cx="9601200" cy="914400"/>
          </a:xfrm>
        </p:spPr>
        <p:txBody>
          <a:bodyPr anchor="t" anchorCtr="0"/>
          <a:lstStyle>
            <a:lvl1pPr>
              <a:defRPr sz="3200"/>
            </a:lvl1pPr>
          </a:lstStyle>
          <a:p>
            <a:r>
              <a:rPr lang="en-US"/>
              <a:t>Click to edit Master title style</a:t>
            </a:r>
            <a:endParaRPr lang="en-US" dirty="0"/>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1280160" y="2377440"/>
            <a:ext cx="9619488" cy="3429000"/>
          </a:xfrm>
        </p:spPr>
        <p:txBody>
          <a:bodyPr/>
          <a:lstStyle>
            <a:lvl1pPr marL="0" indent="0">
              <a:buNone/>
              <a:defRPr/>
            </a:lvl1pPr>
          </a:lstStyle>
          <a:p>
            <a:r>
              <a:rPr lang="en-US" dirty="0"/>
              <a:t>Click icon to add table</a:t>
            </a:r>
          </a:p>
        </p:txBody>
      </p:sp>
      <p:cxnSp>
        <p:nvCxnSpPr>
          <p:cNvPr id="7" name="Straight Connector 6">
            <a:extLst>
              <a:ext uri="{FF2B5EF4-FFF2-40B4-BE49-F238E27FC236}">
                <a16:creationId xmlns:a16="http://schemas.microsoft.com/office/drawing/2014/main" id="{5D612406-06E6-DCE4-7F2F-D98836A802A6}"/>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5889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g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1097280"/>
            <a:ext cx="9821955" cy="9144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280160" y="2377440"/>
            <a:ext cx="4663440" cy="3566160"/>
          </a:xfrm>
          <a:solidFill>
            <a:schemeClr val="accent4"/>
          </a:solidFill>
        </p:spPr>
        <p:txBody>
          <a:bodyPr lIns="365760" tIns="365760" rIns="365760" bIns="365760">
            <a:normAutofit/>
          </a:bodyPr>
          <a:lstStyle>
            <a:lvl1pPr marL="457200">
              <a:spcBef>
                <a:spcPts val="1400"/>
              </a:spcBef>
              <a:buClr>
                <a:schemeClr val="tx1"/>
              </a:buClr>
              <a:buSzPct val="80000"/>
              <a:defRPr sz="1800"/>
            </a:lvl1pPr>
            <a:lvl2pPr marL="914400">
              <a:buClr>
                <a:schemeClr val="tx1"/>
              </a:buClr>
              <a:buSzPct val="80000"/>
              <a:defRPr sz="1600"/>
            </a:lvl2pPr>
            <a:lvl3pPr marL="1371600">
              <a:buClr>
                <a:schemeClr val="tx1"/>
              </a:buClr>
              <a:buSzPct val="80000"/>
              <a:defRPr sz="1400"/>
            </a:lvl3pPr>
            <a:lvl4pPr marL="1828800">
              <a:buClr>
                <a:schemeClr val="tx1"/>
              </a:buClr>
              <a:buSzPct val="80000"/>
              <a:defRPr sz="1200"/>
            </a:lvl4pPr>
            <a:lvl5pPr marL="2286000">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309360" y="2377440"/>
            <a:ext cx="4663440" cy="3566160"/>
          </a:xfrm>
          <a:solidFill>
            <a:schemeClr val="accent4"/>
          </a:solidFill>
        </p:spPr>
        <p:txBody>
          <a:bodyPr lIns="365760" tIns="365760" rIns="365760" bIns="365760">
            <a:normAutofit/>
          </a:bodyPr>
          <a:lstStyle>
            <a:lvl1pPr marL="457200">
              <a:spcBef>
                <a:spcPts val="1400"/>
              </a:spcBef>
              <a:buClr>
                <a:schemeClr val="tx1"/>
              </a:buClr>
              <a:buSzPct val="80000"/>
              <a:defRPr sz="1800" cap="all" baseline="0"/>
            </a:lvl1pPr>
            <a:lvl2pPr marL="914400">
              <a:buClr>
                <a:schemeClr val="tx1"/>
              </a:buClr>
              <a:buSzPct val="80000"/>
              <a:defRPr sz="1600"/>
            </a:lvl2pPr>
            <a:lvl3pPr marL="1371600">
              <a:buClr>
                <a:schemeClr val="tx1"/>
              </a:buClr>
              <a:buSzPct val="80000"/>
              <a:defRPr sz="1400"/>
            </a:lvl3pPr>
            <a:lvl4pPr marL="1828800">
              <a:buClr>
                <a:schemeClr val="tx1"/>
              </a:buClr>
              <a:buSzPct val="80000"/>
              <a:defRPr sz="1200"/>
            </a:lvl4pPr>
            <a:lvl5pPr marL="2286000">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8" name="Straight Connector 7">
            <a:extLst>
              <a:ext uri="{FF2B5EF4-FFF2-40B4-BE49-F238E27FC236}">
                <a16:creationId xmlns:a16="http://schemas.microsoft.com/office/drawing/2014/main" id="{941554B7-BB36-76F6-DD79-11088AA69E8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39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1"/>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ABAFD431-F46D-3701-6A51-738ADAF3A5E3}"/>
              </a:ext>
            </a:extLst>
          </p:cNvPr>
          <p:cNvSpPr>
            <a:spLocks noGrp="1"/>
          </p:cNvSpPr>
          <p:nvPr>
            <p:ph type="title"/>
          </p:nvPr>
        </p:nvSpPr>
        <p:spPr>
          <a:xfrm>
            <a:off x="841248" y="3163824"/>
            <a:ext cx="10515600" cy="2322576"/>
          </a:xfrm>
          <a:prstGeom prst="rect">
            <a:avLst/>
          </a:prstGeom>
          <a:noFill/>
        </p:spPr>
        <p:txBody>
          <a:bodyPr wrap="square" bIns="0" anchor="ctr">
            <a:noAutofit/>
          </a:bodyPr>
          <a:lstStyle>
            <a:lvl1pPr algn="ct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CAFD788D-D699-2BA7-3637-AA3B48C09084}"/>
              </a:ext>
            </a:extLst>
          </p:cNvPr>
          <p:cNvSpPr>
            <a:spLocks noGrp="1"/>
          </p:cNvSpPr>
          <p:nvPr>
            <p:ph type="pic" sz="quarter" idx="13"/>
          </p:nvPr>
        </p:nvSpPr>
        <p:spPr>
          <a:xfrm>
            <a:off x="4953000" y="548640"/>
            <a:ext cx="2286000" cy="2286000"/>
          </a:xfrm>
          <a:prstGeom prst="ellipse">
            <a:avLst/>
          </a:prstGeom>
        </p:spPr>
        <p:txBody>
          <a:bodyPr anchor="t"/>
          <a:lstStyle>
            <a:lvl1pPr marL="0" indent="0" algn="ctr">
              <a:buNone/>
              <a:defRPr sz="1050">
                <a:solidFill>
                  <a:schemeClr val="tx1"/>
                </a:solidFill>
              </a:defRPr>
            </a:lvl1pPr>
          </a:lstStyle>
          <a:p>
            <a:r>
              <a:rPr lang="en-US" dirty="0"/>
              <a:t>Click icon to add picture</a:t>
            </a:r>
          </a:p>
        </p:txBody>
      </p:sp>
      <p:sp>
        <p:nvSpPr>
          <p:cNvPr id="13" name="Text Placeholder 12">
            <a:extLst>
              <a:ext uri="{FF2B5EF4-FFF2-40B4-BE49-F238E27FC236}">
                <a16:creationId xmlns:a16="http://schemas.microsoft.com/office/drawing/2014/main" id="{7808A0C0-A02B-D1C7-6DE5-CA25624AD099}"/>
              </a:ext>
            </a:extLst>
          </p:cNvPr>
          <p:cNvSpPr>
            <a:spLocks noGrp="1"/>
          </p:cNvSpPr>
          <p:nvPr>
            <p:ph type="body" sz="quarter" idx="14"/>
          </p:nvPr>
        </p:nvSpPr>
        <p:spPr>
          <a:xfrm>
            <a:off x="1572768" y="6044184"/>
            <a:ext cx="9116568" cy="365760"/>
          </a:xfrm>
        </p:spPr>
        <p:txBody>
          <a:bodyPr anchor="t"/>
          <a:lstStyle>
            <a:lvl1pPr marL="0" indent="0" algn="ctr">
              <a:lnSpc>
                <a:spcPct val="90000"/>
              </a:lnSpc>
              <a:spcBef>
                <a:spcPts val="0"/>
              </a:spcBef>
              <a:buNone/>
              <a:defRPr sz="2400" cap="all" baseline="0"/>
            </a:lvl1pPr>
          </a:lstStyle>
          <a:p>
            <a:pPr lvl="0"/>
            <a:r>
              <a:rPr lang="en-US"/>
              <a:t>Click to edit Master text styles</a:t>
            </a:r>
          </a:p>
        </p:txBody>
      </p:sp>
      <p:sp>
        <p:nvSpPr>
          <p:cNvPr id="3" name="Rectangle 2">
            <a:extLst>
              <a:ext uri="{FF2B5EF4-FFF2-40B4-BE49-F238E27FC236}">
                <a16:creationId xmlns:a16="http://schemas.microsoft.com/office/drawing/2014/main" id="{7ECE7D81-1954-1B1F-C0AC-21C85AFD3C1E}"/>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9110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1295400" y="609600"/>
            <a:ext cx="9821955" cy="125611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295400" y="1855945"/>
            <a:ext cx="9821955"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Slide Number Placeholder 20">
            <a:extLst>
              <a:ext uri="{FF2B5EF4-FFF2-40B4-BE49-F238E27FC236}">
                <a16:creationId xmlns:a16="http://schemas.microsoft.com/office/drawing/2014/main" id="{78A08F60-CEF1-832D-D403-282EA76CBEF2}"/>
              </a:ext>
            </a:extLst>
          </p:cNvPr>
          <p:cNvSpPr>
            <a:spLocks noGrp="1"/>
          </p:cNvSpPr>
          <p:nvPr>
            <p:ph type="sldNum" sz="quarter" idx="4"/>
          </p:nvPr>
        </p:nvSpPr>
        <p:spPr>
          <a:xfrm>
            <a:off x="420624" y="6019801"/>
            <a:ext cx="457200" cy="184150"/>
          </a:xfrm>
          <a:prstGeom prst="rect">
            <a:avLst/>
          </a:prstGeom>
        </p:spPr>
        <p:txBody>
          <a:bodyPr vert="horz" lIns="0" tIns="0" rIns="0" bIns="0" rtlCol="0" anchor="ctr"/>
          <a:lstStyle>
            <a:lvl1pPr algn="ctr">
              <a:defRPr sz="1200" cap="all" spc="200" baseline="0">
                <a:solidFill>
                  <a:schemeClr val="accent1"/>
                </a:solidFill>
                <a:latin typeface="Posterama" panose="020B0504020200020000" pitchFamily="34" charset="0"/>
              </a:defRPr>
            </a:lvl1pPr>
          </a:lstStyle>
          <a:p>
            <a:fld id="{75DF2D63-3FF5-D547-96B9-BE9CCD1ABA58}"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74" r:id="rId3"/>
    <p:sldLayoutId id="2147483675" r:id="rId4"/>
    <p:sldLayoutId id="2147483664" r:id="rId5"/>
    <p:sldLayoutId id="2147483676" r:id="rId6"/>
    <p:sldLayoutId id="2147483677" r:id="rId7"/>
    <p:sldLayoutId id="2147483681" r:id="rId8"/>
    <p:sldLayoutId id="2147483682" r:id="rId9"/>
    <p:sldLayoutId id="2147483683" r:id="rId10"/>
    <p:sldLayoutId id="2147483680" r:id="rId11"/>
    <p:sldLayoutId id="2147483684" r:id="rId12"/>
    <p:sldLayoutId id="2147483673" r:id="rId13"/>
  </p:sldLayoutIdLst>
  <p:hf hdr="0" dt="0"/>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Posterama" panose="020B0504020200020000" pitchFamily="34" charset="0"/>
        </a:defRPr>
      </a:lvl1pPr>
    </p:titleStyle>
    <p:bodyStyle>
      <a:lvl1pPr marL="228600" indent="-457200" algn="l" defTabSz="914400" rtl="0" eaLnBrk="1" latinLnBrk="0" hangingPunct="1">
        <a:lnSpc>
          <a:spcPct val="100000"/>
        </a:lnSpc>
        <a:spcBef>
          <a:spcPts val="1000"/>
        </a:spcBef>
        <a:buClr>
          <a:schemeClr val="accent1"/>
        </a:buClr>
        <a:buFont typeface="Courier New" panose="02070309020205020404" pitchFamily="49" charset="0"/>
        <a:buChar char="o"/>
        <a:defRPr sz="2400" b="0" i="0" kern="1200" cap="none" baseline="0">
          <a:solidFill>
            <a:schemeClr val="tx1"/>
          </a:solidFill>
          <a:latin typeface="+mn-lt"/>
          <a:ea typeface="+mn-ea"/>
          <a:cs typeface="+mn-cs"/>
        </a:defRPr>
      </a:lvl1pPr>
      <a:lvl2pPr marL="685800" indent="-457200" algn="l" defTabSz="914400" rtl="0" eaLnBrk="1" latinLnBrk="0" hangingPunct="1">
        <a:lnSpc>
          <a:spcPct val="100000"/>
        </a:lnSpc>
        <a:spcBef>
          <a:spcPts val="500"/>
        </a:spcBef>
        <a:buClr>
          <a:schemeClr val="accent1"/>
        </a:buClr>
        <a:buFont typeface="Courier New" panose="02070309020205020404" pitchFamily="49" charset="0"/>
        <a:buChar char="o"/>
        <a:defRPr sz="2000" b="0" i="0" kern="1200" baseline="0">
          <a:solidFill>
            <a:schemeClr val="tx1"/>
          </a:solidFill>
          <a:latin typeface="+mn-lt"/>
          <a:ea typeface="+mn-ea"/>
          <a:cs typeface="+mn-cs"/>
        </a:defRPr>
      </a:lvl2pPr>
      <a:lvl3pPr marL="1143000" indent="-457200" algn="l" defTabSz="914400" rtl="0" eaLnBrk="1" latinLnBrk="0" hangingPunct="1">
        <a:lnSpc>
          <a:spcPct val="100000"/>
        </a:lnSpc>
        <a:spcBef>
          <a:spcPts val="500"/>
        </a:spcBef>
        <a:buClr>
          <a:schemeClr val="accent1"/>
        </a:buClr>
        <a:buFont typeface="Courier New" panose="02070309020205020404" pitchFamily="49" charset="0"/>
        <a:buChar char="o"/>
        <a:defRPr sz="1800" b="0" i="0" kern="1200" baseline="0">
          <a:solidFill>
            <a:schemeClr val="tx1"/>
          </a:solidFill>
          <a:latin typeface="+mn-lt"/>
          <a:ea typeface="+mn-ea"/>
          <a:cs typeface="+mn-cs"/>
        </a:defRPr>
      </a:lvl3pPr>
      <a:lvl4pPr marL="1600200" indent="-457200" algn="l" defTabSz="914400" rtl="0" eaLnBrk="1" latinLnBrk="0" hangingPunct="1">
        <a:lnSpc>
          <a:spcPct val="100000"/>
        </a:lnSpc>
        <a:spcBef>
          <a:spcPts val="500"/>
        </a:spcBef>
        <a:buClr>
          <a:schemeClr val="accent1"/>
        </a:buClr>
        <a:buFont typeface="Courier New" panose="02070309020205020404" pitchFamily="49" charset="0"/>
        <a:buChar char="o"/>
        <a:defRPr sz="1600" b="0" i="0" kern="1200" baseline="0">
          <a:solidFill>
            <a:schemeClr val="tx1"/>
          </a:solidFill>
          <a:latin typeface="+mn-lt"/>
          <a:ea typeface="+mn-ea"/>
          <a:cs typeface="+mn-cs"/>
        </a:defRPr>
      </a:lvl4pPr>
      <a:lvl5pPr marL="2057400" indent="-457200" algn="l" defTabSz="914400" rtl="0" eaLnBrk="1" latinLnBrk="0" hangingPunct="1">
        <a:lnSpc>
          <a:spcPct val="100000"/>
        </a:lnSpc>
        <a:spcBef>
          <a:spcPts val="500"/>
        </a:spcBef>
        <a:buClr>
          <a:schemeClr val="accent1"/>
        </a:buClr>
        <a:buFont typeface="Courier New" panose="02070309020205020404" pitchFamily="49" charset="0"/>
        <a:buChar char="o"/>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bharathraj1024/AI-Driven-Smart-Surveillance-for-Weapon-Detection-Using-YOLOv8" TargetMode="External"/><Relationship Id="rId2" Type="http://schemas.openxmlformats.org/officeDocument/2006/relationships/image" Target="../media/image14.png"/><Relationship Id="rId1" Type="http://schemas.openxmlformats.org/officeDocument/2006/relationships/slideLayout" Target="../slideLayouts/slideLayout6.xml"/><Relationship Id="rId6" Type="http://schemas.openxmlformats.org/officeDocument/2006/relationships/hyperlink" Target="mailto:bharathraj1024@gmail.com" TargetMode="External"/><Relationship Id="rId5" Type="http://schemas.openxmlformats.org/officeDocument/2006/relationships/hyperlink" Target="https://react-portfolio-ochre-gamma.vercel.app/" TargetMode="External"/><Relationship Id="rId4" Type="http://schemas.openxmlformats.org/officeDocument/2006/relationships/hyperlink" Target="https://youtu.be/vkhxaQHgLU0?si=3aFgimUsW_8EpK3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EECEBD4-35BF-26BB-D438-DA43EBD5EE89}"/>
              </a:ext>
            </a:extLst>
          </p:cNvPr>
          <p:cNvSpPr>
            <a:spLocks noGrp="1"/>
          </p:cNvSpPr>
          <p:nvPr>
            <p:ph type="subTitle" idx="1"/>
          </p:nvPr>
        </p:nvSpPr>
        <p:spPr>
          <a:xfrm>
            <a:off x="1555432" y="2910571"/>
            <a:ext cx="9738360" cy="914400"/>
          </a:xfrm>
          <a:noFill/>
        </p:spPr>
        <p:txBody>
          <a:bodyPr>
            <a:noAutofit/>
          </a:bodyPr>
          <a:lstStyle/>
          <a:p>
            <a:r>
              <a:rPr lang="en-US" sz="3200" b="1" dirty="0">
                <a:latin typeface="Times New Roman" panose="02020603050405020304" pitchFamily="18" charset="0"/>
                <a:cs typeface="Times New Roman" panose="02020603050405020304" pitchFamily="18" charset="0"/>
              </a:rPr>
              <a:t>AI – DRIVEN SMART SURVEILLANCE FOR WEAPON DETECTION USING YOLOv8</a:t>
            </a:r>
          </a:p>
        </p:txBody>
      </p:sp>
      <p:pic>
        <p:nvPicPr>
          <p:cNvPr id="1026" name="Picture 2">
            <a:extLst>
              <a:ext uri="{FF2B5EF4-FFF2-40B4-BE49-F238E27FC236}">
                <a16:creationId xmlns:a16="http://schemas.microsoft.com/office/drawing/2014/main" id="{64DA9BCF-3BEE-E47C-620E-79918E7F29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947731"/>
            <a:ext cx="7334250" cy="155852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C6CC501-EF53-D11E-033C-FC155877097B}"/>
              </a:ext>
            </a:extLst>
          </p:cNvPr>
          <p:cNvSpPr txBox="1"/>
          <p:nvPr/>
        </p:nvSpPr>
        <p:spPr>
          <a:xfrm>
            <a:off x="3228974" y="4229283"/>
            <a:ext cx="6391276" cy="461665"/>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Department: </a:t>
            </a:r>
            <a:r>
              <a:rPr lang="en-IN" sz="2400" dirty="0">
                <a:latin typeface="Times New Roman" panose="02020603050405020304" pitchFamily="18" charset="0"/>
                <a:cs typeface="Times New Roman" panose="02020603050405020304" pitchFamily="18" charset="0"/>
              </a:rPr>
              <a:t>Information Technology</a:t>
            </a:r>
            <a:endParaRPr lang="en-IN"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91A7E5F-62B5-0F2B-80E2-CA81BFF41EA2}"/>
              </a:ext>
            </a:extLst>
          </p:cNvPr>
          <p:cNvSpPr txBox="1"/>
          <p:nvPr/>
        </p:nvSpPr>
        <p:spPr>
          <a:xfrm>
            <a:off x="6924675" y="5259353"/>
            <a:ext cx="6219826" cy="1569660"/>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Presented by:</a:t>
            </a:r>
          </a:p>
          <a:p>
            <a:r>
              <a:rPr lang="en-IN" sz="2400" dirty="0">
                <a:latin typeface="Times New Roman" panose="02020603050405020304" pitchFamily="18" charset="0"/>
                <a:cs typeface="Times New Roman" panose="02020603050405020304" pitchFamily="18" charset="0"/>
              </a:rPr>
              <a:t>Kolloju Srinivas Bharath Raj</a:t>
            </a:r>
          </a:p>
          <a:p>
            <a:r>
              <a:rPr lang="en-IN" sz="2400" dirty="0">
                <a:latin typeface="Times New Roman" panose="02020603050405020304" pitchFamily="18" charset="0"/>
                <a:cs typeface="Times New Roman" panose="02020603050405020304" pitchFamily="18" charset="0"/>
              </a:rPr>
              <a:t>Master of Computer Applications (MCA)</a:t>
            </a:r>
          </a:p>
          <a:p>
            <a:r>
              <a:rPr lang="en-IN" sz="2400" dirty="0">
                <a:latin typeface="Times New Roman" panose="02020603050405020304" pitchFamily="18" charset="0"/>
                <a:cs typeface="Times New Roman" panose="02020603050405020304" pitchFamily="18" charset="0"/>
              </a:rPr>
              <a:t>2023 – 2025</a:t>
            </a:r>
          </a:p>
        </p:txBody>
      </p:sp>
      <p:sp>
        <p:nvSpPr>
          <p:cNvPr id="7" name="TextBox 6">
            <a:extLst>
              <a:ext uri="{FF2B5EF4-FFF2-40B4-BE49-F238E27FC236}">
                <a16:creationId xmlns:a16="http://schemas.microsoft.com/office/drawing/2014/main" id="{26793309-A437-F9F3-0C32-72D7CBABCA0E}"/>
              </a:ext>
            </a:extLst>
          </p:cNvPr>
          <p:cNvSpPr txBox="1"/>
          <p:nvPr/>
        </p:nvSpPr>
        <p:spPr>
          <a:xfrm>
            <a:off x="314839" y="5259353"/>
            <a:ext cx="5285862"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prstClr val="black"/>
                </a:solidFill>
                <a:latin typeface="Times New Roman" panose="02020603050405020304" pitchFamily="18" charset="0"/>
                <a:cs typeface="Times New Roman" panose="02020603050405020304" pitchFamily="18" charset="0"/>
              </a:rPr>
              <a:t>Supervisor:</a:t>
            </a: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2400" noProof="1">
                <a:solidFill>
                  <a:prstClr val="black"/>
                </a:solidFill>
                <a:latin typeface="Times New Roman" panose="02020603050405020304" pitchFamily="18" charset="0"/>
                <a:cs typeface="Times New Roman" panose="02020603050405020304" pitchFamily="18" charset="0"/>
              </a:rPr>
              <a:t>Dr. K. Nagamani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IN" sz="2400" dirty="0">
                <a:solidFill>
                  <a:prstClr val="black"/>
                </a:solidFill>
                <a:latin typeface="Times New Roman" panose="02020603050405020304" pitchFamily="18" charset="0"/>
                <a:cs typeface="Times New Roman" panose="02020603050405020304" pitchFamily="18" charset="0"/>
              </a:rPr>
              <a:t>Assistant Professor</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Department of Information Technology</a:t>
            </a:r>
          </a:p>
        </p:txBody>
      </p:sp>
    </p:spTree>
    <p:extLst>
      <p:ext uri="{BB962C8B-B14F-4D97-AF65-F5344CB8AC3E}">
        <p14:creationId xmlns:p14="http://schemas.microsoft.com/office/powerpoint/2010/main" val="435195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B6C6BFF-89AB-03DB-CA93-16C626AA2A24}"/>
              </a:ext>
            </a:extLst>
          </p:cNvPr>
          <p:cNvSpPr txBox="1"/>
          <p:nvPr/>
        </p:nvSpPr>
        <p:spPr>
          <a:xfrm>
            <a:off x="438150" y="1137771"/>
            <a:ext cx="11315700" cy="7848302"/>
          </a:xfrm>
          <a:prstGeom prst="rect">
            <a:avLst/>
          </a:prstGeom>
          <a:noFill/>
        </p:spPr>
        <p:txBody>
          <a:bodyPr wrap="square">
            <a:spAutoFit/>
          </a:bodyPr>
          <a:lstStyle/>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Abstract</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Introduction</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Objective and Scope of the project</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Literature review</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Research Gaps</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Importance of the project</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Proposed System</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Implementation Methodology</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Technology Support for Execution</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UML Diagrams</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UTP &amp; ITP</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Results</a:t>
            </a:r>
          </a:p>
          <a:p>
            <a:pPr marL="342900" indent="-342900" algn="just">
              <a:lnSpc>
                <a:spcPct val="150000"/>
              </a:lnSpc>
              <a:buAutoNum type="arabicPeriod"/>
            </a:pPr>
            <a:r>
              <a:rPr lang="en-US" dirty="0">
                <a:latin typeface="Times New Roman" panose="02020603050405020304" pitchFamily="18" charset="0"/>
                <a:cs typeface="Times New Roman" panose="02020603050405020304" pitchFamily="18" charset="0"/>
              </a:rPr>
              <a:t>Conclusion</a:t>
            </a:r>
          </a:p>
          <a:p>
            <a:pPr marL="342900" indent="-342900" algn="just">
              <a:lnSpc>
                <a:spcPct val="150000"/>
              </a:lnSpc>
              <a:buAutoNum type="arabicPeriod"/>
            </a:pPr>
            <a:endParaRPr lang="en-US"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B46245ED-1E0F-4862-7B87-5B938F07450C}"/>
              </a:ext>
            </a:extLst>
          </p:cNvPr>
          <p:cNvSpPr txBox="1">
            <a:spLocks/>
          </p:cNvSpPr>
          <p:nvPr/>
        </p:nvSpPr>
        <p:spPr>
          <a:xfrm>
            <a:off x="3737610" y="533400"/>
            <a:ext cx="3682365" cy="333375"/>
          </a:xfrm>
          <a:prstGeom prst="rect">
            <a:avLst/>
          </a:prstGeom>
        </p:spPr>
        <p:txBody>
          <a:bodyPr vert="horz" lIns="0" tIns="0" rIns="0" bIns="0" rtlCol="0" anchor="ctr" anchorCtr="0">
            <a:normAutofit fontScale="55000" lnSpcReduction="20000"/>
          </a:bodyPr>
          <a:lstStyle>
            <a:lvl1pPr algn="ctr" defTabSz="914400" rtl="0" eaLnBrk="1" latinLnBrk="0" hangingPunct="1">
              <a:lnSpc>
                <a:spcPct val="90000"/>
              </a:lnSpc>
              <a:spcBef>
                <a:spcPct val="0"/>
              </a:spcBef>
              <a:buNone/>
              <a:defRPr sz="5400" kern="1200" cap="all" spc="300" baseline="0">
                <a:solidFill>
                  <a:schemeClr val="tx1"/>
                </a:solidFill>
                <a:latin typeface="+mj-lt"/>
                <a:ea typeface="+mj-ea"/>
                <a:cs typeface="Posterama" panose="020B0504020200020000" pitchFamily="34" charset="0"/>
              </a:defRPr>
            </a:lvl1pPr>
          </a:lstStyle>
          <a:p>
            <a:r>
              <a:rPr lang="en-US" b="1" u="sng" dirty="0">
                <a:latin typeface="Times New Roman" panose="02020603050405020304" pitchFamily="18" charset="0"/>
                <a:cs typeface="Times New Roman" panose="02020603050405020304" pitchFamily="18" charset="0"/>
              </a:rPr>
              <a:t>contents</a:t>
            </a:r>
          </a:p>
        </p:txBody>
      </p:sp>
    </p:spTree>
    <p:extLst>
      <p:ext uri="{BB962C8B-B14F-4D97-AF65-F5344CB8AC3E}">
        <p14:creationId xmlns:p14="http://schemas.microsoft.com/office/powerpoint/2010/main" val="1777762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5A6D6-25CE-CD2D-BF86-FE3CE72EC89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040DB5E-BF00-885E-A488-56EA5934E62E}"/>
              </a:ext>
            </a:extLst>
          </p:cNvPr>
          <p:cNvSpPr txBox="1"/>
          <p:nvPr/>
        </p:nvSpPr>
        <p:spPr>
          <a:xfrm>
            <a:off x="742950" y="1662916"/>
            <a:ext cx="10706100" cy="3366563"/>
          </a:xfrm>
          <a:prstGeom prst="rect">
            <a:avLst/>
          </a:prstGeom>
          <a:noFill/>
        </p:spPr>
        <p:txBody>
          <a:bodyPr wrap="square">
            <a:spAutoFit/>
          </a:bodyPr>
          <a:lstStyle/>
          <a:p>
            <a:pPr marR="5600" algn="just" rtl="0">
              <a:lnSpc>
                <a:spcPct val="150000"/>
              </a:lnSpc>
            </a:pPr>
            <a:r>
              <a:rPr lang="en-US" sz="1800" i="0" u="none" strike="noStrike" baseline="0" dirty="0">
                <a:latin typeface="Times New Roman" panose="02020603050405020304" pitchFamily="18" charset="0"/>
              </a:rPr>
              <a:t>Security risks caused by firearms carried either openly or concealed demand more advanced intelligent surveillance systems. The research presents a weapon identification system operating in real time and the Django-based server handles storage, together with OpenCV image processing and YOLOv8 object detection capabilities. The system collects video frames as its input and performs deep learning analyses to detect weapons in the frames as they are received in real time. The suggested method delivers fast weapon identification alerts to enhance security surveillance capabilities alongside faster response capabilities for threats that help protect public safety and law enforcement.</a:t>
            </a:r>
          </a:p>
          <a:p>
            <a:pPr marR="5600" algn="just" rtl="0">
              <a:lnSpc>
                <a:spcPct val="150000"/>
              </a:lnSpc>
            </a:pPr>
            <a:endParaRPr lang="en-US" sz="1800" b="0" i="0" u="none" strike="noStrike" baseline="0" dirty="0">
              <a:latin typeface="Times New Roman" panose="02020603050405020304" pitchFamily="18" charset="0"/>
            </a:endParaRPr>
          </a:p>
        </p:txBody>
      </p:sp>
      <p:sp>
        <p:nvSpPr>
          <p:cNvPr id="7" name="Title 1">
            <a:extLst>
              <a:ext uri="{FF2B5EF4-FFF2-40B4-BE49-F238E27FC236}">
                <a16:creationId xmlns:a16="http://schemas.microsoft.com/office/drawing/2014/main" id="{AD6546C8-27D9-3F3E-47F5-0FE1F640B37F}"/>
              </a:ext>
            </a:extLst>
          </p:cNvPr>
          <p:cNvSpPr txBox="1">
            <a:spLocks/>
          </p:cNvSpPr>
          <p:nvPr/>
        </p:nvSpPr>
        <p:spPr>
          <a:xfrm>
            <a:off x="3737610" y="533400"/>
            <a:ext cx="3682365" cy="333375"/>
          </a:xfrm>
          <a:prstGeom prst="rect">
            <a:avLst/>
          </a:prstGeom>
        </p:spPr>
        <p:txBody>
          <a:bodyPr vert="horz" lIns="0" tIns="0" rIns="0" bIns="0" rtlCol="0" anchor="ctr" anchorCtr="0">
            <a:normAutofit fontScale="25000" lnSpcReduction="20000"/>
          </a:bodyPr>
          <a:lstStyle>
            <a:lvl1pPr algn="ctr" defTabSz="914400" rtl="0" eaLnBrk="1" latinLnBrk="0" hangingPunct="1">
              <a:lnSpc>
                <a:spcPct val="90000"/>
              </a:lnSpc>
              <a:spcBef>
                <a:spcPct val="0"/>
              </a:spcBef>
              <a:buNone/>
              <a:defRPr sz="5400" kern="1200" cap="all" spc="300" baseline="0">
                <a:solidFill>
                  <a:schemeClr val="tx1"/>
                </a:solidFill>
                <a:latin typeface="+mj-lt"/>
                <a:ea typeface="+mj-ea"/>
                <a:cs typeface="Posterama" panose="020B0504020200020000" pitchFamily="34" charset="0"/>
              </a:defRPr>
            </a:lvl1pPr>
          </a:lstStyle>
          <a:p>
            <a:r>
              <a:rPr lang="en-US" sz="12800" b="1" u="sng" dirty="0">
                <a:latin typeface="Times New Roman" panose="02020603050405020304" pitchFamily="18" charset="0"/>
                <a:cs typeface="Times New Roman" panose="02020603050405020304" pitchFamily="18" charset="0"/>
              </a:rPr>
              <a:t>ABSTRACT</a:t>
            </a:r>
            <a:endParaRPr lang="en-US"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3272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B675E-75A9-584D-C823-D685C497397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7829DF3-BA49-3CDA-6A79-5269D20832C0}"/>
              </a:ext>
            </a:extLst>
          </p:cNvPr>
          <p:cNvSpPr txBox="1"/>
          <p:nvPr/>
        </p:nvSpPr>
        <p:spPr>
          <a:xfrm>
            <a:off x="438150" y="11295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4D5D81B5-1BDD-5B8E-1425-C85D07E8CB00}"/>
              </a:ext>
            </a:extLst>
          </p:cNvPr>
          <p:cNvSpPr txBox="1">
            <a:spLocks/>
          </p:cNvSpPr>
          <p:nvPr/>
        </p:nvSpPr>
        <p:spPr>
          <a:xfrm>
            <a:off x="3411855" y="491341"/>
            <a:ext cx="5673090" cy="333375"/>
          </a:xfrm>
          <a:prstGeom prst="rect">
            <a:avLst/>
          </a:prstGeom>
        </p:spPr>
        <p:txBody>
          <a:bodyPr vert="horz" lIns="0" tIns="0" rIns="0" bIns="0" rtlCol="0" anchor="ctr" anchorCtr="0">
            <a:normAutofit fontScale="25000" lnSpcReduction="20000"/>
          </a:bodyPr>
          <a:lstStyle>
            <a:lvl1pPr algn="ctr" defTabSz="914400" rtl="0" eaLnBrk="1" latinLnBrk="0" hangingPunct="1">
              <a:lnSpc>
                <a:spcPct val="90000"/>
              </a:lnSpc>
              <a:spcBef>
                <a:spcPct val="0"/>
              </a:spcBef>
              <a:buNone/>
              <a:defRPr sz="5400" kern="1200" cap="all" spc="300" baseline="0">
                <a:solidFill>
                  <a:schemeClr val="tx1"/>
                </a:solidFill>
                <a:latin typeface="+mj-lt"/>
                <a:ea typeface="+mj-ea"/>
                <a:cs typeface="Posterama" panose="020B0504020200020000" pitchFamily="34" charset="0"/>
              </a:defRPr>
            </a:lvl1pPr>
          </a:lstStyle>
          <a:p>
            <a:r>
              <a:rPr lang="en-US" sz="12800" b="1" u="sng" dirty="0">
                <a:latin typeface="Times New Roman" panose="02020603050405020304" pitchFamily="18" charset="0"/>
                <a:cs typeface="Times New Roman" panose="02020603050405020304" pitchFamily="18" charset="0"/>
              </a:rPr>
              <a:t>INTRODUCTION</a:t>
            </a:r>
            <a:endParaRPr lang="en-US" b="1" u="sng"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12C6EE27-B35B-356E-B4E9-7321227FC368}"/>
              </a:ext>
            </a:extLst>
          </p:cNvPr>
          <p:cNvSpPr>
            <a:spLocks noChangeArrowheads="1"/>
          </p:cNvSpPr>
          <p:nvPr/>
        </p:nvSpPr>
        <p:spPr bwMode="auto">
          <a:xfrm>
            <a:off x="742950" y="1192895"/>
            <a:ext cx="2114550" cy="1427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Technologies Used:</a:t>
            </a:r>
          </a:p>
          <a:p>
            <a:pPr marL="285750" marR="0" lvl="0" indent="-285750" algn="just" defTabSz="914400" rtl="0" eaLnBrk="0" fontAlgn="base" latinLnBrk="0" hangingPunct="0">
              <a:spcBef>
                <a:spcPct val="0"/>
              </a:spcBef>
              <a:spcAft>
                <a:spcPct val="0"/>
              </a:spcAft>
              <a:buClrTx/>
              <a:buSzTx/>
              <a:buFont typeface="Arial" panose="020B0604020202020204" pitchFamily="34" charset="0"/>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8CD8013-62A9-0011-2D7B-7B50A0CFBD48}"/>
              </a:ext>
            </a:extLst>
          </p:cNvPr>
          <p:cNvGraphicFramePr>
            <a:graphicFrameLocks noGrp="1"/>
          </p:cNvGraphicFramePr>
          <p:nvPr>
            <p:extLst>
              <p:ext uri="{D42A27DB-BD31-4B8C-83A1-F6EECF244321}">
                <p14:modId xmlns:p14="http://schemas.microsoft.com/office/powerpoint/2010/main" val="566757516"/>
              </p:ext>
            </p:extLst>
          </p:nvPr>
        </p:nvGraphicFramePr>
        <p:xfrm>
          <a:off x="1775240" y="1784499"/>
          <a:ext cx="9251119" cy="3576320"/>
        </p:xfrm>
        <a:graphic>
          <a:graphicData uri="http://schemas.openxmlformats.org/drawingml/2006/table">
            <a:tbl>
              <a:tblPr firstRow="1" bandRow="1">
                <a:tableStyleId>{BDBED569-4797-4DF1-A0F4-6AAB3CD982D8}</a:tableStyleId>
              </a:tblPr>
              <a:tblGrid>
                <a:gridCol w="2089320">
                  <a:extLst>
                    <a:ext uri="{9D8B030D-6E8A-4147-A177-3AD203B41FA5}">
                      <a16:colId xmlns:a16="http://schemas.microsoft.com/office/drawing/2014/main" val="56080231"/>
                    </a:ext>
                  </a:extLst>
                </a:gridCol>
                <a:gridCol w="3169546">
                  <a:extLst>
                    <a:ext uri="{9D8B030D-6E8A-4147-A177-3AD203B41FA5}">
                      <a16:colId xmlns:a16="http://schemas.microsoft.com/office/drawing/2014/main" val="1208319633"/>
                    </a:ext>
                  </a:extLst>
                </a:gridCol>
                <a:gridCol w="3992253">
                  <a:extLst>
                    <a:ext uri="{9D8B030D-6E8A-4147-A177-3AD203B41FA5}">
                      <a16:colId xmlns:a16="http://schemas.microsoft.com/office/drawing/2014/main" val="526812240"/>
                    </a:ext>
                  </a:extLst>
                </a:gridCol>
              </a:tblGrid>
              <a:tr h="370840">
                <a:tc>
                  <a:txBody>
                    <a:bodyPr/>
                    <a:lstStyle/>
                    <a:p>
                      <a:pPr algn="ctr"/>
                      <a:r>
                        <a:rPr lang="en-IN" dirty="0">
                          <a:latin typeface="Times New Roman" panose="02020603050405020304" pitchFamily="18" charset="0"/>
                          <a:cs typeface="Times New Roman" panose="02020603050405020304" pitchFamily="18" charset="0"/>
                        </a:rPr>
                        <a:t>Category</a:t>
                      </a:r>
                    </a:p>
                  </a:txBody>
                  <a:tcPr/>
                </a:tc>
                <a:tc>
                  <a:txBody>
                    <a:bodyPr/>
                    <a:lstStyle/>
                    <a:p>
                      <a:pPr algn="ctr"/>
                      <a:r>
                        <a:rPr lang="en-IN" dirty="0">
                          <a:latin typeface="Times New Roman" panose="02020603050405020304" pitchFamily="18" charset="0"/>
                          <a:cs typeface="Times New Roman" panose="02020603050405020304" pitchFamily="18" charset="0"/>
                        </a:rPr>
                        <a:t>Technology</a:t>
                      </a:r>
                    </a:p>
                  </a:txBody>
                  <a:tcPr/>
                </a:tc>
                <a:tc>
                  <a:txBody>
                    <a:bodyPr/>
                    <a:lstStyle/>
                    <a:p>
                      <a:pPr algn="ctr"/>
                      <a:r>
                        <a:rPr lang="en-IN" dirty="0">
                          <a:latin typeface="Times New Roman" panose="02020603050405020304" pitchFamily="18" charset="0"/>
                          <a:cs typeface="Times New Roman" panose="02020603050405020304" pitchFamily="18" charset="0"/>
                        </a:rPr>
                        <a:t>How it Helps</a:t>
                      </a:r>
                    </a:p>
                  </a:txBody>
                  <a:tcPr/>
                </a:tc>
                <a:extLst>
                  <a:ext uri="{0D108BD9-81ED-4DB2-BD59-A6C34878D82A}">
                    <a16:rowId xmlns:a16="http://schemas.microsoft.com/office/drawing/2014/main" val="146594218"/>
                  </a:ext>
                </a:extLst>
              </a:tr>
              <a:tr h="370840">
                <a:tc>
                  <a:txBody>
                    <a:bodyPr/>
                    <a:lstStyle/>
                    <a:p>
                      <a:pPr algn="ctr"/>
                      <a:r>
                        <a:rPr lang="en-IN" b="1" dirty="0">
                          <a:latin typeface="Times New Roman" panose="02020603050405020304" pitchFamily="18" charset="0"/>
                          <a:cs typeface="Times New Roman" panose="02020603050405020304" pitchFamily="18" charset="0"/>
                        </a:rPr>
                        <a:t>Models</a:t>
                      </a:r>
                    </a:p>
                  </a:txBody>
                  <a:tcPr/>
                </a:tc>
                <a:tc>
                  <a:txBody>
                    <a:bodyPr/>
                    <a:lstStyle/>
                    <a:p>
                      <a:pPr algn="ctr"/>
                      <a:r>
                        <a:rPr lang="en-IN" dirty="0">
                          <a:latin typeface="Times New Roman" panose="02020603050405020304" pitchFamily="18" charset="0"/>
                          <a:cs typeface="Times New Roman" panose="02020603050405020304" pitchFamily="18" charset="0"/>
                        </a:rPr>
                        <a:t>YOLOv8</a:t>
                      </a:r>
                    </a:p>
                  </a:txBody>
                  <a:tcPr/>
                </a:tc>
                <a:tc>
                  <a:txBody>
                    <a:bodyPr/>
                    <a:lstStyle/>
                    <a:p>
                      <a:r>
                        <a:rPr lang="en-US" dirty="0">
                          <a:latin typeface="Times New Roman" panose="02020603050405020304" pitchFamily="18" charset="0"/>
                          <a:cs typeface="Times New Roman" panose="02020603050405020304" pitchFamily="18" charset="0"/>
                        </a:rPr>
                        <a:t>Detects weapons in real-time for security.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94529831"/>
                  </a:ext>
                </a:extLst>
              </a:tr>
              <a:tr h="370840">
                <a:tc>
                  <a:txBody>
                    <a:bodyPr/>
                    <a:lstStyle/>
                    <a:p>
                      <a:pPr algn="ctr"/>
                      <a:r>
                        <a:rPr lang="en-IN" b="1" dirty="0">
                          <a:latin typeface="Times New Roman" panose="02020603050405020304" pitchFamily="18" charset="0"/>
                          <a:cs typeface="Times New Roman" panose="02020603050405020304" pitchFamily="18" charset="0"/>
                        </a:rPr>
                        <a:t>Libraries</a:t>
                      </a:r>
                    </a:p>
                  </a:txBody>
                  <a:tcPr/>
                </a:tc>
                <a:tc>
                  <a:txBody>
                    <a:bodyPr/>
                    <a:lstStyle/>
                    <a:p>
                      <a:pPr algn="ctr"/>
                      <a:r>
                        <a:rPr lang="en-IN" dirty="0">
                          <a:latin typeface="Times New Roman" panose="02020603050405020304" pitchFamily="18" charset="0"/>
                          <a:cs typeface="Times New Roman" panose="02020603050405020304" pitchFamily="18" charset="0"/>
                        </a:rPr>
                        <a:t>OpenCV</a:t>
                      </a:r>
                    </a:p>
                  </a:txBody>
                  <a:tcPr/>
                </a:tc>
                <a:tc>
                  <a:txBody>
                    <a:bodyPr/>
                    <a:lstStyle/>
                    <a:p>
                      <a:r>
                        <a:rPr lang="en-IN" dirty="0">
                          <a:latin typeface="Times New Roman" panose="02020603050405020304" pitchFamily="18" charset="0"/>
                          <a:cs typeface="Times New Roman" panose="02020603050405020304" pitchFamily="18" charset="0"/>
                        </a:rPr>
                        <a:t>Enhances video frames for better detection accuracy.</a:t>
                      </a:r>
                    </a:p>
                  </a:txBody>
                  <a:tcPr/>
                </a:tc>
                <a:extLst>
                  <a:ext uri="{0D108BD9-81ED-4DB2-BD59-A6C34878D82A}">
                    <a16:rowId xmlns:a16="http://schemas.microsoft.com/office/drawing/2014/main" val="894253775"/>
                  </a:ext>
                </a:extLst>
              </a:tr>
              <a:tr h="370840">
                <a:tc>
                  <a:txBody>
                    <a:bodyPr/>
                    <a:lstStyle/>
                    <a:p>
                      <a:pPr algn="ctr"/>
                      <a:r>
                        <a:rPr lang="en-IN" b="1" dirty="0">
                          <a:latin typeface="Times New Roman" panose="02020603050405020304" pitchFamily="18" charset="0"/>
                          <a:cs typeface="Times New Roman" panose="02020603050405020304" pitchFamily="18" charset="0"/>
                        </a:rPr>
                        <a:t>Frameworks</a:t>
                      </a:r>
                    </a:p>
                  </a:txBody>
                  <a:tcPr/>
                </a:tc>
                <a:tc>
                  <a:txBody>
                    <a:bodyPr/>
                    <a:lstStyle/>
                    <a:p>
                      <a:pPr algn="ctr"/>
                      <a:r>
                        <a:rPr lang="en-IN" dirty="0">
                          <a:latin typeface="Times New Roman" panose="02020603050405020304" pitchFamily="18" charset="0"/>
                          <a:cs typeface="Times New Roman" panose="02020603050405020304" pitchFamily="18" charset="0"/>
                        </a:rPr>
                        <a:t>Django</a:t>
                      </a:r>
                    </a:p>
                  </a:txBody>
                  <a:tcPr/>
                </a:tc>
                <a:tc>
                  <a:txBody>
                    <a:bodyPr/>
                    <a:lstStyle/>
                    <a:p>
                      <a:r>
                        <a:rPr lang="en-US" dirty="0">
                          <a:latin typeface="Times New Roman" panose="02020603050405020304" pitchFamily="18" charset="0"/>
                          <a:cs typeface="Times New Roman" panose="02020603050405020304" pitchFamily="18" charset="0"/>
                        </a:rPr>
                        <a:t>Manages real-time monitoring and weapon detection requests.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30636313"/>
                  </a:ext>
                </a:extLst>
              </a:tr>
              <a:tr h="370840">
                <a:tc>
                  <a:txBody>
                    <a:bodyPr/>
                    <a:lstStyle/>
                    <a:p>
                      <a:pPr algn="ctr"/>
                      <a:r>
                        <a:rPr lang="en-IN" b="1" dirty="0">
                          <a:latin typeface="Times New Roman" panose="02020603050405020304" pitchFamily="18" charset="0"/>
                          <a:cs typeface="Times New Roman" panose="02020603050405020304" pitchFamily="18" charset="0"/>
                        </a:rPr>
                        <a:t>Programming Languages</a:t>
                      </a:r>
                    </a:p>
                  </a:txBody>
                  <a:tcPr/>
                </a:tc>
                <a:tc>
                  <a:txBody>
                    <a:bodyPr/>
                    <a:lstStyle/>
                    <a:p>
                      <a:pPr algn="ctr"/>
                      <a:r>
                        <a:rPr lang="en-IN" dirty="0">
                          <a:latin typeface="Times New Roman" panose="02020603050405020304" pitchFamily="18" charset="0"/>
                          <a:cs typeface="Times New Roman" panose="02020603050405020304" pitchFamily="18" charset="0"/>
                        </a:rPr>
                        <a:t>Python</a:t>
                      </a:r>
                    </a:p>
                  </a:txBody>
                  <a:tcPr/>
                </a:tc>
                <a:tc>
                  <a:txBody>
                    <a:bodyPr/>
                    <a:lstStyle/>
                    <a:p>
                      <a:r>
                        <a:rPr lang="en-US" dirty="0">
                          <a:latin typeface="Times New Roman" panose="02020603050405020304" pitchFamily="18" charset="0"/>
                          <a:cs typeface="Times New Roman" panose="02020603050405020304" pitchFamily="18" charset="0"/>
                        </a:rPr>
                        <a:t>Development, machine learning, and image processing.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59478943"/>
                  </a:ext>
                </a:extLst>
              </a:tr>
              <a:tr h="370840">
                <a:tc>
                  <a:txBody>
                    <a:bodyPr/>
                    <a:lstStyle/>
                    <a:p>
                      <a:pPr algn="ctr"/>
                      <a:r>
                        <a:rPr lang="en-IN" b="1" dirty="0">
                          <a:latin typeface="Times New Roman" panose="02020603050405020304" pitchFamily="18" charset="0"/>
                          <a:cs typeface="Times New Roman" panose="02020603050405020304" pitchFamily="18" charset="0"/>
                        </a:rPr>
                        <a:t>Datasets</a:t>
                      </a:r>
                    </a:p>
                  </a:txBody>
                  <a:tcPr/>
                </a:tc>
                <a:tc>
                  <a:txBody>
                    <a:bodyPr/>
                    <a:lstStyle/>
                    <a:p>
                      <a:pPr algn="ctr"/>
                      <a:r>
                        <a:rPr lang="en-IN" dirty="0">
                          <a:latin typeface="Times New Roman" panose="02020603050405020304" pitchFamily="18" charset="0"/>
                          <a:cs typeface="Times New Roman" panose="02020603050405020304" pitchFamily="18" charset="0"/>
                        </a:rPr>
                        <a:t>Custom Weapon Detection Datasets </a:t>
                      </a:r>
                      <a:r>
                        <a:rPr lang="en-IN" noProof="1">
                          <a:latin typeface="Times New Roman" panose="02020603050405020304" pitchFamily="18" charset="0"/>
                          <a:cs typeface="Times New Roman" panose="02020603050405020304" pitchFamily="18" charset="0"/>
                        </a:rPr>
                        <a:t>annotated on Roboflow.</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Labeled datasets for training and testing weapon detection.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40219501"/>
                  </a:ext>
                </a:extLst>
              </a:tr>
            </a:tbl>
          </a:graphicData>
        </a:graphic>
      </p:graphicFrame>
    </p:spTree>
    <p:extLst>
      <p:ext uri="{BB962C8B-B14F-4D97-AF65-F5344CB8AC3E}">
        <p14:creationId xmlns:p14="http://schemas.microsoft.com/office/powerpoint/2010/main" val="1883271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0A627-3335-A789-5B51-F1CD62A10A1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FC1EE4E-184A-5F16-6544-86A45A4577D9}"/>
              </a:ext>
            </a:extLst>
          </p:cNvPr>
          <p:cNvSpPr txBox="1"/>
          <p:nvPr/>
        </p:nvSpPr>
        <p:spPr>
          <a:xfrm>
            <a:off x="438150" y="11295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A41645D2-9C00-71E2-DBAB-D3D6288FCCCC}"/>
              </a:ext>
            </a:extLst>
          </p:cNvPr>
          <p:cNvSpPr txBox="1">
            <a:spLocks/>
          </p:cNvSpPr>
          <p:nvPr/>
        </p:nvSpPr>
        <p:spPr>
          <a:xfrm>
            <a:off x="933450" y="382822"/>
            <a:ext cx="10458450" cy="333375"/>
          </a:xfrm>
          <a:prstGeom prst="rect">
            <a:avLst/>
          </a:prstGeom>
        </p:spPr>
        <p:txBody>
          <a:bodyPr vert="horz" lIns="0" tIns="0" rIns="0" bIns="0" rtlCol="0" anchor="ctr" anchorCtr="0">
            <a:normAutofit fontScale="25000" lnSpcReduction="20000"/>
          </a:bodyPr>
          <a:lstStyle>
            <a:lvl1pPr algn="ctr" defTabSz="914400" rtl="0" eaLnBrk="1" latinLnBrk="0" hangingPunct="1">
              <a:lnSpc>
                <a:spcPct val="90000"/>
              </a:lnSpc>
              <a:spcBef>
                <a:spcPct val="0"/>
              </a:spcBef>
              <a:buNone/>
              <a:defRPr sz="5400" kern="1200" cap="all" spc="300" baseline="0">
                <a:solidFill>
                  <a:schemeClr val="tx1"/>
                </a:solidFill>
                <a:latin typeface="+mj-lt"/>
                <a:ea typeface="+mj-ea"/>
                <a:cs typeface="Posterama" panose="020B0504020200020000" pitchFamily="34" charset="0"/>
              </a:defRPr>
            </a:lvl1pPr>
          </a:lstStyle>
          <a:p>
            <a:r>
              <a:rPr lang="en-US" sz="12800" b="1" u="sng" dirty="0">
                <a:latin typeface="Times New Roman" panose="02020603050405020304" pitchFamily="18" charset="0"/>
                <a:cs typeface="Times New Roman" panose="02020603050405020304" pitchFamily="18" charset="0"/>
              </a:rPr>
              <a:t>OBJECTIVE AND SCOPE OF THE PROJECT</a:t>
            </a:r>
            <a:endParaRPr lang="en-US" b="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FF4AD0B-84A4-77A8-641A-BBC57773C260}"/>
              </a:ext>
            </a:extLst>
          </p:cNvPr>
          <p:cNvSpPr txBox="1"/>
          <p:nvPr/>
        </p:nvSpPr>
        <p:spPr>
          <a:xfrm>
            <a:off x="742950" y="14343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CFE352B-9DC3-A6E1-CC16-EB9573FDCFC6}"/>
              </a:ext>
            </a:extLst>
          </p:cNvPr>
          <p:cNvSpPr txBox="1"/>
          <p:nvPr/>
        </p:nvSpPr>
        <p:spPr>
          <a:xfrm>
            <a:off x="590550" y="12819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1E66844-4ACE-87A1-64DB-256EF5F95DA0}"/>
              </a:ext>
            </a:extLst>
          </p:cNvPr>
          <p:cNvSpPr txBox="1"/>
          <p:nvPr/>
        </p:nvSpPr>
        <p:spPr>
          <a:xfrm>
            <a:off x="742950" y="14343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1F7ED53-E487-E663-553A-A179C23DB084}"/>
              </a:ext>
            </a:extLst>
          </p:cNvPr>
          <p:cNvSpPr>
            <a:spLocks noChangeArrowheads="1"/>
          </p:cNvSpPr>
          <p:nvPr/>
        </p:nvSpPr>
        <p:spPr bwMode="auto">
          <a:xfrm>
            <a:off x="300037" y="1639142"/>
            <a:ext cx="11896725" cy="4613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real-time weapon detection system using YOLOv8 and OpenCV.</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instant alerts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security personnel upon detecting weapons.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public safety and reduce response time to potential threats.</a:t>
            </a:r>
          </a:p>
          <a:p>
            <a:pPr marR="0" lvl="0" algn="just" defTabSz="914400" rtl="0" eaLnBrk="0" fontAlgn="base" latinLnBrk="0" hangingPunct="0">
              <a:lnSpc>
                <a:spcPct val="15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Scope:</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 on detecting weapons in video streams from surveillance cameras.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is limited to identifying weapons and not other security threats </a:t>
            </a:r>
            <a:r>
              <a:rPr lang="en-US" altLang="en-US" dirty="0">
                <a:latin typeface="Times New Roman" panose="02020603050405020304" pitchFamily="18" charset="0"/>
                <a:cs typeface="Times New Roman" panose="02020603050405020304" pitchFamily="18" charset="0"/>
              </a:rPr>
              <a:t>such as explosives, mines etc</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Deployed in public spaces like airports, malls, and stadiums.</a:t>
            </a:r>
          </a:p>
          <a:p>
            <a:pPr marR="0" lvl="0" algn="just" defTabSz="914400" rtl="0" eaLnBrk="0" fontAlgn="base" latinLnBrk="0" hangingPunct="0">
              <a:lnSpc>
                <a:spcPct val="15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5695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1AF7-FD08-8749-9819-C5ABA192260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F0DCEDB-5792-4691-6B1D-B2BD77A62DF9}"/>
              </a:ext>
            </a:extLst>
          </p:cNvPr>
          <p:cNvSpPr txBox="1"/>
          <p:nvPr/>
        </p:nvSpPr>
        <p:spPr>
          <a:xfrm>
            <a:off x="438150" y="11295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D032514A-A76B-39E6-E607-75D567C2E179}"/>
              </a:ext>
            </a:extLst>
          </p:cNvPr>
          <p:cNvSpPr txBox="1">
            <a:spLocks/>
          </p:cNvSpPr>
          <p:nvPr/>
        </p:nvSpPr>
        <p:spPr>
          <a:xfrm>
            <a:off x="866775" y="464432"/>
            <a:ext cx="10458450" cy="333375"/>
          </a:xfrm>
          <a:prstGeom prst="rect">
            <a:avLst/>
          </a:prstGeom>
        </p:spPr>
        <p:txBody>
          <a:bodyPr vert="horz" lIns="0" tIns="0" rIns="0" bIns="0" rtlCol="0" anchor="ctr" anchorCtr="0">
            <a:normAutofit fontScale="25000" lnSpcReduction="20000"/>
          </a:bodyPr>
          <a:lstStyle>
            <a:lvl1pPr algn="ctr" defTabSz="914400" rtl="0" eaLnBrk="1" latinLnBrk="0" hangingPunct="1">
              <a:lnSpc>
                <a:spcPct val="90000"/>
              </a:lnSpc>
              <a:spcBef>
                <a:spcPct val="0"/>
              </a:spcBef>
              <a:buNone/>
              <a:defRPr sz="5400" kern="1200" cap="all" spc="300" baseline="0">
                <a:solidFill>
                  <a:schemeClr val="tx1"/>
                </a:solidFill>
                <a:latin typeface="+mj-lt"/>
                <a:ea typeface="+mj-ea"/>
                <a:cs typeface="Posterama" panose="020B0504020200020000" pitchFamily="34" charset="0"/>
              </a:defRPr>
            </a:lvl1pPr>
          </a:lstStyle>
          <a:p>
            <a:r>
              <a:rPr lang="en-US" sz="12800" b="1" u="sng" dirty="0">
                <a:latin typeface="Times New Roman" panose="02020603050405020304" pitchFamily="18" charset="0"/>
                <a:cs typeface="Times New Roman" panose="02020603050405020304" pitchFamily="18" charset="0"/>
              </a:rPr>
              <a:t>OBJECTIVE AND SCOPE OF THE PROJECT</a:t>
            </a:r>
            <a:endParaRPr lang="en-US" b="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E0D5BFE-219D-BA3C-8247-A9FAF9216327}"/>
              </a:ext>
            </a:extLst>
          </p:cNvPr>
          <p:cNvSpPr txBox="1"/>
          <p:nvPr/>
        </p:nvSpPr>
        <p:spPr>
          <a:xfrm>
            <a:off x="742950" y="14343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83D7939-7529-EAE2-D1DB-E37D179488AA}"/>
              </a:ext>
            </a:extLst>
          </p:cNvPr>
          <p:cNvSpPr txBox="1"/>
          <p:nvPr/>
        </p:nvSpPr>
        <p:spPr>
          <a:xfrm>
            <a:off x="590550" y="12819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7E2F969-5153-CF7D-081F-3E25D2EE8CBA}"/>
              </a:ext>
            </a:extLst>
          </p:cNvPr>
          <p:cNvSpPr txBox="1"/>
          <p:nvPr/>
        </p:nvSpPr>
        <p:spPr>
          <a:xfrm>
            <a:off x="742950" y="14343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04EAFD8-E1D4-E790-50EB-B30036EEE028}"/>
              </a:ext>
            </a:extLst>
          </p:cNvPr>
          <p:cNvSpPr>
            <a:spLocks noChangeArrowheads="1"/>
          </p:cNvSpPr>
          <p:nvPr/>
        </p:nvSpPr>
        <p:spPr bwMode="auto">
          <a:xfrm>
            <a:off x="742950" y="1562263"/>
            <a:ext cx="11896725" cy="2535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Potential Applications: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Public Security: Airports, shopping malls, public events.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Law Enforcement: Assists police in monitoring high-risk areas.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Cities: Integration into smart city infrastructure for enhanced safety.</a:t>
            </a:r>
          </a:p>
          <a:p>
            <a:pPr marR="0" lvl="0" algn="just" defTabSz="914400" rtl="0" eaLnBrk="0" fontAlgn="base" latinLnBrk="0" hangingPunct="0">
              <a:lnSpc>
                <a:spcPct val="15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8307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9985D-ECD8-C12E-0124-0A7549710AF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5595631-CD70-70F3-AA1D-26CC3AE44A81}"/>
              </a:ext>
            </a:extLst>
          </p:cNvPr>
          <p:cNvSpPr txBox="1">
            <a:spLocks/>
          </p:cNvSpPr>
          <p:nvPr/>
        </p:nvSpPr>
        <p:spPr>
          <a:xfrm>
            <a:off x="866775" y="464432"/>
            <a:ext cx="10458450" cy="333375"/>
          </a:xfrm>
          <a:prstGeom prst="rect">
            <a:avLst/>
          </a:prstGeom>
        </p:spPr>
        <p:txBody>
          <a:bodyPr vert="horz" lIns="0" tIns="0" rIns="0" bIns="0" rtlCol="0" anchor="ctr" anchorCtr="0">
            <a:normAutofit fontScale="25000" lnSpcReduction="20000"/>
          </a:bodyPr>
          <a:lstStyle>
            <a:lvl1pPr algn="ctr" defTabSz="914400" rtl="0" eaLnBrk="1" latinLnBrk="0" hangingPunct="1">
              <a:lnSpc>
                <a:spcPct val="90000"/>
              </a:lnSpc>
              <a:spcBef>
                <a:spcPct val="0"/>
              </a:spcBef>
              <a:buNone/>
              <a:defRPr sz="5400" kern="1200" cap="all" spc="300" baseline="0">
                <a:solidFill>
                  <a:schemeClr val="tx1"/>
                </a:solidFill>
                <a:latin typeface="+mj-lt"/>
                <a:ea typeface="+mj-ea"/>
                <a:cs typeface="Posterama" panose="020B0504020200020000" pitchFamily="34" charset="0"/>
              </a:defRPr>
            </a:lvl1pPr>
          </a:lstStyle>
          <a:p>
            <a:r>
              <a:rPr lang="en-US" sz="12800" b="1" u="sng" dirty="0">
                <a:latin typeface="Times New Roman" panose="02020603050405020304" pitchFamily="18" charset="0"/>
                <a:cs typeface="Times New Roman" panose="02020603050405020304" pitchFamily="18" charset="0"/>
              </a:rPr>
              <a:t>LITERATURE REVIEW</a:t>
            </a:r>
            <a:endParaRPr lang="en-US" b="1" u="sng"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3F684FAA-3FF8-0249-819E-FA751E087DC2}"/>
              </a:ext>
            </a:extLst>
          </p:cNvPr>
          <p:cNvGraphicFramePr>
            <a:graphicFrameLocks noGrp="1"/>
          </p:cNvGraphicFramePr>
          <p:nvPr>
            <p:extLst>
              <p:ext uri="{D42A27DB-BD31-4B8C-83A1-F6EECF244321}">
                <p14:modId xmlns:p14="http://schemas.microsoft.com/office/powerpoint/2010/main" val="2588376305"/>
              </p:ext>
            </p:extLst>
          </p:nvPr>
        </p:nvGraphicFramePr>
        <p:xfrm>
          <a:off x="527050" y="1501702"/>
          <a:ext cx="10931525" cy="4064145"/>
        </p:xfrm>
        <a:graphic>
          <a:graphicData uri="http://schemas.openxmlformats.org/drawingml/2006/table">
            <a:tbl>
              <a:tblPr firstRow="1" bandRow="1">
                <a:tableStyleId>{BDBED569-4797-4DF1-A0F4-6AAB3CD982D8}</a:tableStyleId>
              </a:tblPr>
              <a:tblGrid>
                <a:gridCol w="2635250">
                  <a:extLst>
                    <a:ext uri="{9D8B030D-6E8A-4147-A177-3AD203B41FA5}">
                      <a16:colId xmlns:a16="http://schemas.microsoft.com/office/drawing/2014/main" val="934344253"/>
                    </a:ext>
                  </a:extLst>
                </a:gridCol>
                <a:gridCol w="2162175">
                  <a:extLst>
                    <a:ext uri="{9D8B030D-6E8A-4147-A177-3AD203B41FA5}">
                      <a16:colId xmlns:a16="http://schemas.microsoft.com/office/drawing/2014/main" val="517983691"/>
                    </a:ext>
                  </a:extLst>
                </a:gridCol>
                <a:gridCol w="1238250">
                  <a:extLst>
                    <a:ext uri="{9D8B030D-6E8A-4147-A177-3AD203B41FA5}">
                      <a16:colId xmlns:a16="http://schemas.microsoft.com/office/drawing/2014/main" val="1524861822"/>
                    </a:ext>
                  </a:extLst>
                </a:gridCol>
                <a:gridCol w="2286000">
                  <a:extLst>
                    <a:ext uri="{9D8B030D-6E8A-4147-A177-3AD203B41FA5}">
                      <a16:colId xmlns:a16="http://schemas.microsoft.com/office/drawing/2014/main" val="107593942"/>
                    </a:ext>
                  </a:extLst>
                </a:gridCol>
                <a:gridCol w="2609850">
                  <a:extLst>
                    <a:ext uri="{9D8B030D-6E8A-4147-A177-3AD203B41FA5}">
                      <a16:colId xmlns:a16="http://schemas.microsoft.com/office/drawing/2014/main" val="473709067"/>
                    </a:ext>
                  </a:extLst>
                </a:gridCol>
              </a:tblGrid>
              <a:tr h="605617">
                <a:tc>
                  <a:txBody>
                    <a:bodyPr/>
                    <a:lstStyle/>
                    <a:p>
                      <a:pPr algn="ctr"/>
                      <a:r>
                        <a:rPr lang="en-IN" dirty="0">
                          <a:latin typeface="Times New Roman" panose="02020603050405020304" pitchFamily="18" charset="0"/>
                          <a:cs typeface="Times New Roman" panose="02020603050405020304" pitchFamily="18" charset="0"/>
                        </a:rPr>
                        <a:t>Research Paper</a:t>
                      </a:r>
                    </a:p>
                  </a:txBody>
                  <a:tcPr/>
                </a:tc>
                <a:tc>
                  <a:txBody>
                    <a:bodyPr/>
                    <a:lstStyle/>
                    <a:p>
                      <a:pPr algn="ctr"/>
                      <a:r>
                        <a:rPr lang="en-IN" b="1" dirty="0">
                          <a:latin typeface="Times New Roman" panose="02020603050405020304" pitchFamily="18" charset="0"/>
                          <a:cs typeface="Times New Roman" panose="02020603050405020304" pitchFamily="18" charset="0"/>
                        </a:rPr>
                        <a:t>Authors</a:t>
                      </a:r>
                    </a:p>
                  </a:txBody>
                  <a:tcPr/>
                </a:tc>
                <a:tc>
                  <a:txBody>
                    <a:bodyPr/>
                    <a:lstStyle/>
                    <a:p>
                      <a:pPr algn="ctr"/>
                      <a:r>
                        <a:rPr lang="en-IN" dirty="0">
                          <a:latin typeface="Times New Roman" panose="02020603050405020304" pitchFamily="18" charset="0"/>
                          <a:cs typeface="Times New Roman" panose="02020603050405020304" pitchFamily="18" charset="0"/>
                        </a:rPr>
                        <a:t>Model</a:t>
                      </a:r>
                    </a:p>
                  </a:txBody>
                  <a:tcPr/>
                </a:tc>
                <a:tc>
                  <a:txBody>
                    <a:bodyPr/>
                    <a:lstStyle/>
                    <a:p>
                      <a:pPr algn="ctr"/>
                      <a:r>
                        <a:rPr lang="en-IN" dirty="0">
                          <a:latin typeface="Times New Roman" panose="02020603050405020304" pitchFamily="18" charset="0"/>
                          <a:cs typeface="Times New Roman" panose="02020603050405020304" pitchFamily="18" charset="0"/>
                        </a:rPr>
                        <a:t>Findings</a:t>
                      </a:r>
                    </a:p>
                  </a:txBody>
                  <a:tcPr/>
                </a:tc>
                <a:tc>
                  <a:txBody>
                    <a:bodyPr/>
                    <a:lstStyle/>
                    <a:p>
                      <a:pPr algn="ctr"/>
                      <a:r>
                        <a:rPr lang="en-IN"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1893948195"/>
                  </a:ext>
                </a:extLst>
              </a:tr>
              <a:tr h="1004499">
                <a:tc>
                  <a:txBody>
                    <a:bodyPr/>
                    <a:lstStyle/>
                    <a:p>
                      <a:pPr algn="just"/>
                      <a:r>
                        <a:rPr lang="en-US" dirty="0">
                          <a:latin typeface="Times New Roman" panose="02020603050405020304" pitchFamily="18" charset="0"/>
                          <a:cs typeface="Times New Roman" panose="02020603050405020304" pitchFamily="18" charset="0"/>
                        </a:rPr>
                        <a:t>Application of Deep Learning for Weapons Detection in Surveillance Videos</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Tufail Sajjad Shah Hashmi et al.</a:t>
                      </a:r>
                    </a:p>
                  </a:txBody>
                  <a:tcPr/>
                </a:tc>
                <a:tc>
                  <a:txBody>
                    <a:bodyPr/>
                    <a:lstStyle/>
                    <a:p>
                      <a:pPr algn="ctr"/>
                      <a:r>
                        <a:rPr lang="en-IN" dirty="0">
                          <a:latin typeface="Times New Roman" panose="02020603050405020304" pitchFamily="18" charset="0"/>
                          <a:cs typeface="Times New Roman" panose="02020603050405020304" pitchFamily="18" charset="0"/>
                        </a:rPr>
                        <a:t>YOLOv3 &amp; YOLOv4</a:t>
                      </a:r>
                    </a:p>
                  </a:txBody>
                  <a:tcPr/>
                </a:tc>
                <a:tc>
                  <a:txBody>
                    <a:bodyPr/>
                    <a:lstStyle/>
                    <a:p>
                      <a:pPr algn="just"/>
                      <a:r>
                        <a:rPr lang="en-US" dirty="0">
                          <a:latin typeface="Times New Roman" panose="02020603050405020304" pitchFamily="18" charset="0"/>
                          <a:cs typeface="Times New Roman" panose="02020603050405020304" pitchFamily="18" charset="0"/>
                        </a:rPr>
                        <a:t>YOLOv4 outperforms YOLOv3 in sensitivity and processing time.</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dirty="0">
                          <a:latin typeface="Times New Roman" panose="02020603050405020304" pitchFamily="18" charset="0"/>
                          <a:cs typeface="Times New Roman" panose="02020603050405020304" pitchFamily="18" charset="0"/>
                        </a:rPr>
                        <a:t>No real-time alert system, no storage.</a:t>
                      </a:r>
                    </a:p>
                  </a:txBody>
                  <a:tcPr/>
                </a:tc>
                <a:extLst>
                  <a:ext uri="{0D108BD9-81ED-4DB2-BD59-A6C34878D82A}">
                    <a16:rowId xmlns:a16="http://schemas.microsoft.com/office/drawing/2014/main" val="815660315"/>
                  </a:ext>
                </a:extLst>
              </a:tr>
              <a:tr h="1081088">
                <a:tc>
                  <a:txBody>
                    <a:bodyPr/>
                    <a:lstStyle/>
                    <a:p>
                      <a:r>
                        <a:rPr lang="en-US" dirty="0">
                          <a:latin typeface="Times New Roman" panose="02020603050405020304" pitchFamily="18" charset="0"/>
                          <a:cs typeface="Times New Roman" panose="02020603050405020304" pitchFamily="18" charset="0"/>
                        </a:rPr>
                        <a:t>Real-time Weapon Detection using Drone</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noProof="1">
                          <a:latin typeface="Times New Roman" panose="02020603050405020304" pitchFamily="18" charset="0"/>
                          <a:cs typeface="Times New Roman" panose="02020603050405020304" pitchFamily="18" charset="0"/>
                        </a:rPr>
                        <a:t>Deepak R. Hawale, Pavin S. Game.</a:t>
                      </a:r>
                    </a:p>
                  </a:txBody>
                  <a:tcPr/>
                </a:tc>
                <a:tc>
                  <a:txBody>
                    <a:bodyPr/>
                    <a:lstStyle/>
                    <a:p>
                      <a:pPr algn="ctr"/>
                      <a:r>
                        <a:rPr lang="en-IN" dirty="0">
                          <a:latin typeface="Times New Roman" panose="02020603050405020304" pitchFamily="18" charset="0"/>
                          <a:cs typeface="Times New Roman" panose="02020603050405020304" pitchFamily="18" charset="0"/>
                        </a:rPr>
                        <a:t>YOLOv3 with OpenCV</a:t>
                      </a:r>
                    </a:p>
                  </a:txBody>
                  <a:tcPr/>
                </a:tc>
                <a:tc>
                  <a:txBody>
                    <a:bodyPr/>
                    <a:lstStyle/>
                    <a:p>
                      <a:pPr algn="just"/>
                      <a:r>
                        <a:rPr lang="en-US" dirty="0">
                          <a:latin typeface="Times New Roman" panose="02020603050405020304" pitchFamily="18" charset="0"/>
                          <a:cs typeface="Times New Roman" panose="02020603050405020304" pitchFamily="18" charset="0"/>
                        </a:rPr>
                        <a:t>Real-time detection with drone-mounted cameras.</a:t>
                      </a:r>
                      <a:endParaRPr lang="en-IN" dirty="0">
                        <a:latin typeface="Times New Roman" panose="02020603050405020304" pitchFamily="18" charset="0"/>
                        <a:cs typeface="Times New Roman" panose="02020603050405020304" pitchFamily="18" charset="0"/>
                      </a:endParaRPr>
                    </a:p>
                  </a:txBody>
                  <a:tcPr anchor="ctr"/>
                </a:tc>
                <a:tc>
                  <a:txBody>
                    <a:bodyPr/>
                    <a:lstStyle/>
                    <a:p>
                      <a:pPr algn="just"/>
                      <a:r>
                        <a:rPr lang="en-US" dirty="0">
                          <a:latin typeface="Times New Roman" panose="02020603050405020304" pitchFamily="18" charset="0"/>
                          <a:cs typeface="Times New Roman" panose="02020603050405020304" pitchFamily="18" charset="0"/>
                        </a:rPr>
                        <a:t>Relies on internet connectivity, no storage.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70356919"/>
                  </a:ext>
                </a:extLst>
              </a:tr>
              <a:tr h="1081088">
                <a:tc>
                  <a:txBody>
                    <a:bodyPr/>
                    <a:lstStyle/>
                    <a:p>
                      <a:r>
                        <a:rPr lang="en-US" dirty="0">
                          <a:latin typeface="Times New Roman" panose="02020603050405020304" pitchFamily="18" charset="0"/>
                          <a:cs typeface="Times New Roman" panose="02020603050405020304" pitchFamily="18" charset="0"/>
                        </a:rPr>
                        <a:t>Weapon Detection from Images using YOLO and OpenCV</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IN" noProof="1">
                          <a:latin typeface="Times New Roman" panose="02020603050405020304" pitchFamily="18" charset="0"/>
                          <a:cs typeface="Times New Roman" panose="02020603050405020304" pitchFamily="18" charset="0"/>
                        </a:rPr>
                        <a:t>Divyanshi Chitravanshi et al.</a:t>
                      </a:r>
                    </a:p>
                  </a:txBody>
                  <a:tcPr/>
                </a:tc>
                <a:tc>
                  <a:txBody>
                    <a:bodyPr/>
                    <a:lstStyle/>
                    <a:p>
                      <a:pPr algn="ctr"/>
                      <a:r>
                        <a:rPr lang="en-IN" dirty="0">
                          <a:latin typeface="Times New Roman" panose="02020603050405020304" pitchFamily="18" charset="0"/>
                          <a:cs typeface="Times New Roman" panose="02020603050405020304" pitchFamily="18" charset="0"/>
                        </a:rPr>
                        <a:t>YOLOv5 with Transfer Learning</a:t>
                      </a:r>
                    </a:p>
                  </a:txBody>
                  <a:tcPr/>
                </a:tc>
                <a:tc>
                  <a:txBody>
                    <a:bodyPr/>
                    <a:lstStyle/>
                    <a:p>
                      <a:pPr algn="ctr"/>
                      <a:r>
                        <a:rPr lang="en-US" dirty="0">
                          <a:latin typeface="Times New Roman" panose="02020603050405020304" pitchFamily="18" charset="0"/>
                          <a:cs typeface="Times New Roman" panose="02020603050405020304" pitchFamily="18" charset="0"/>
                        </a:rPr>
                        <a:t>Improved detection accuracy with YOLOv5.</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Lacks storage and alert system.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13589611"/>
                  </a:ext>
                </a:extLst>
              </a:tr>
            </a:tbl>
          </a:graphicData>
        </a:graphic>
      </p:graphicFrame>
      <p:sp>
        <p:nvSpPr>
          <p:cNvPr id="5" name="TextBox 4">
            <a:extLst>
              <a:ext uri="{FF2B5EF4-FFF2-40B4-BE49-F238E27FC236}">
                <a16:creationId xmlns:a16="http://schemas.microsoft.com/office/drawing/2014/main" id="{27AC9F4A-D3AE-408F-5AE0-7194694853E0}"/>
              </a:ext>
            </a:extLst>
          </p:cNvPr>
          <p:cNvSpPr txBox="1"/>
          <p:nvPr/>
        </p:nvSpPr>
        <p:spPr>
          <a:xfrm>
            <a:off x="527050" y="868330"/>
            <a:ext cx="6096000" cy="458074"/>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Summary of Existing Research/Studies:</a:t>
            </a:r>
          </a:p>
        </p:txBody>
      </p:sp>
    </p:spTree>
    <p:extLst>
      <p:ext uri="{BB962C8B-B14F-4D97-AF65-F5344CB8AC3E}">
        <p14:creationId xmlns:p14="http://schemas.microsoft.com/office/powerpoint/2010/main" val="1145549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42BF3-D966-ABE5-4FD3-45826154136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9EA6D95-878D-7F79-9861-579AF0F8844F}"/>
              </a:ext>
            </a:extLst>
          </p:cNvPr>
          <p:cNvSpPr txBox="1"/>
          <p:nvPr/>
        </p:nvSpPr>
        <p:spPr>
          <a:xfrm>
            <a:off x="0" y="841473"/>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37E1BD73-4FF9-946E-B562-A148A6624446}"/>
              </a:ext>
            </a:extLst>
          </p:cNvPr>
          <p:cNvSpPr txBox="1">
            <a:spLocks/>
          </p:cNvSpPr>
          <p:nvPr/>
        </p:nvSpPr>
        <p:spPr>
          <a:xfrm>
            <a:off x="866775" y="464432"/>
            <a:ext cx="10458450" cy="333375"/>
          </a:xfrm>
          <a:prstGeom prst="rect">
            <a:avLst/>
          </a:prstGeom>
        </p:spPr>
        <p:txBody>
          <a:bodyPr vert="horz" lIns="0" tIns="0" rIns="0" bIns="0" rtlCol="0" anchor="ctr" anchorCtr="0">
            <a:normAutofit fontScale="25000" lnSpcReduction="20000"/>
          </a:bodyPr>
          <a:lstStyle>
            <a:lvl1pPr algn="ctr" defTabSz="914400" rtl="0" eaLnBrk="1" latinLnBrk="0" hangingPunct="1">
              <a:lnSpc>
                <a:spcPct val="90000"/>
              </a:lnSpc>
              <a:spcBef>
                <a:spcPct val="0"/>
              </a:spcBef>
              <a:buNone/>
              <a:defRPr sz="5400" kern="1200" cap="all" spc="300" baseline="0">
                <a:solidFill>
                  <a:schemeClr val="tx1"/>
                </a:solidFill>
                <a:latin typeface="+mj-lt"/>
                <a:ea typeface="+mj-ea"/>
                <a:cs typeface="Posterama" panose="020B0504020200020000" pitchFamily="34" charset="0"/>
              </a:defRPr>
            </a:lvl1pPr>
          </a:lstStyle>
          <a:p>
            <a:r>
              <a:rPr lang="en-US" sz="12800" b="1" u="sng" dirty="0">
                <a:latin typeface="Times New Roman" panose="02020603050405020304" pitchFamily="18" charset="0"/>
                <a:cs typeface="Times New Roman" panose="02020603050405020304" pitchFamily="18" charset="0"/>
              </a:rPr>
              <a:t>RESEARCH GAP</a:t>
            </a:r>
            <a:endParaRPr lang="en-US" b="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FF81A3E-54E1-FE5F-1097-5F53B05CD1E5}"/>
              </a:ext>
            </a:extLst>
          </p:cNvPr>
          <p:cNvSpPr txBox="1"/>
          <p:nvPr/>
        </p:nvSpPr>
        <p:spPr>
          <a:xfrm>
            <a:off x="742950" y="14343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4D70B57-495A-3B11-F267-5EA396988BCA}"/>
              </a:ext>
            </a:extLst>
          </p:cNvPr>
          <p:cNvSpPr txBox="1"/>
          <p:nvPr/>
        </p:nvSpPr>
        <p:spPr>
          <a:xfrm>
            <a:off x="523875" y="1205716"/>
            <a:ext cx="11315700" cy="4613058"/>
          </a:xfrm>
          <a:prstGeom prst="rect">
            <a:avLst/>
          </a:prstGeom>
          <a:noFill/>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1. High Computational Demands</a:t>
            </a:r>
          </a:p>
          <a:p>
            <a:pPr algn="just">
              <a:lnSpc>
                <a:spcPct val="150000"/>
              </a:lnSpc>
            </a:pPr>
            <a:r>
              <a:rPr lang="en-US" b="1" dirty="0">
                <a:latin typeface="Times New Roman" panose="02020603050405020304" pitchFamily="18" charset="0"/>
                <a:cs typeface="Times New Roman" panose="02020603050405020304" pitchFamily="18" charset="0"/>
              </a:rPr>
              <a:t>Gap:</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Systems need powerful hardware, limiting deployment in resource-constrained environments.</a:t>
            </a:r>
          </a:p>
          <a:p>
            <a:pPr algn="just">
              <a:lnSpc>
                <a:spcPct val="150000"/>
              </a:lnSpc>
            </a:pPr>
            <a:r>
              <a:rPr lang="en-US" b="1" dirty="0">
                <a:latin typeface="Times New Roman" panose="02020603050405020304" pitchFamily="18" charset="0"/>
                <a:cs typeface="Times New Roman" panose="02020603050405020304" pitchFamily="18" charset="0"/>
              </a:rPr>
              <a:t>Solution: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Efficient YOLOv8 Model that </a:t>
            </a:r>
            <a:r>
              <a:rPr lang="en-US" b="1" dirty="0">
                <a:latin typeface="Times New Roman" panose="02020603050405020304" pitchFamily="18" charset="0"/>
                <a:cs typeface="Times New Roman" panose="02020603050405020304" pitchFamily="18" charset="0"/>
              </a:rPr>
              <a:t>works on less powerful devices</a:t>
            </a:r>
            <a:r>
              <a:rPr lang="en-US" dirty="0">
                <a:latin typeface="Times New Roman" panose="02020603050405020304" pitchFamily="18" charset="0"/>
                <a:cs typeface="Times New Roman" panose="02020603050405020304" pitchFamily="18" charset="0"/>
              </a:rPr>
              <a:t>.</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2. Limited Scalability:</a:t>
            </a:r>
          </a:p>
          <a:p>
            <a:pPr algn="just">
              <a:lnSpc>
                <a:spcPct val="150000"/>
              </a:lnSpc>
            </a:pPr>
            <a:r>
              <a:rPr lang="en-US" b="1" dirty="0">
                <a:latin typeface="Times New Roman" panose="02020603050405020304" pitchFamily="18" charset="0"/>
                <a:cs typeface="Times New Roman" panose="02020603050405020304" pitchFamily="18" charset="0"/>
              </a:rPr>
              <a:t>Gap:</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Systems struggle to scale for larger environments like airports or stadiums.</a:t>
            </a:r>
          </a:p>
          <a:p>
            <a:pPr algn="just">
              <a:lnSpc>
                <a:spcPct val="150000"/>
              </a:lnSpc>
            </a:pPr>
            <a:r>
              <a:rPr lang="en-US" b="1" dirty="0">
                <a:latin typeface="Times New Roman" panose="02020603050405020304" pitchFamily="18" charset="0"/>
                <a:cs typeface="Times New Roman" panose="02020603050405020304" pitchFamily="18" charset="0"/>
              </a:rPr>
              <a:t>Solution: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Django enables for easy scaling across multiple locations.</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9582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3BB63-692B-D8F1-3EA6-0BF3E7B4FD6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DDDBE9C-9EF3-851B-52AC-25073F210156}"/>
              </a:ext>
            </a:extLst>
          </p:cNvPr>
          <p:cNvSpPr txBox="1"/>
          <p:nvPr/>
        </p:nvSpPr>
        <p:spPr>
          <a:xfrm>
            <a:off x="0" y="841473"/>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8580FB23-9CD7-8C8C-B04D-6392B70B8219}"/>
              </a:ext>
            </a:extLst>
          </p:cNvPr>
          <p:cNvSpPr txBox="1">
            <a:spLocks/>
          </p:cNvSpPr>
          <p:nvPr/>
        </p:nvSpPr>
        <p:spPr>
          <a:xfrm>
            <a:off x="866775" y="464432"/>
            <a:ext cx="10458450" cy="333375"/>
          </a:xfrm>
          <a:prstGeom prst="rect">
            <a:avLst/>
          </a:prstGeom>
        </p:spPr>
        <p:txBody>
          <a:bodyPr vert="horz" lIns="0" tIns="0" rIns="0" bIns="0" rtlCol="0" anchor="ctr" anchorCtr="0">
            <a:normAutofit fontScale="25000" lnSpcReduction="20000"/>
          </a:bodyPr>
          <a:lstStyle>
            <a:lvl1pPr algn="ctr" defTabSz="914400" rtl="0" eaLnBrk="1" latinLnBrk="0" hangingPunct="1">
              <a:lnSpc>
                <a:spcPct val="90000"/>
              </a:lnSpc>
              <a:spcBef>
                <a:spcPct val="0"/>
              </a:spcBef>
              <a:buNone/>
              <a:defRPr sz="5400" kern="1200" cap="all" spc="300" baseline="0">
                <a:solidFill>
                  <a:schemeClr val="tx1"/>
                </a:solidFill>
                <a:latin typeface="+mj-lt"/>
                <a:ea typeface="+mj-ea"/>
                <a:cs typeface="Posterama" panose="020B0504020200020000" pitchFamily="34" charset="0"/>
              </a:defRPr>
            </a:lvl1pPr>
          </a:lstStyle>
          <a:p>
            <a:r>
              <a:rPr lang="en-US" sz="12800" b="1" u="sng" dirty="0">
                <a:latin typeface="Times New Roman" panose="02020603050405020304" pitchFamily="18" charset="0"/>
                <a:cs typeface="Times New Roman" panose="02020603050405020304" pitchFamily="18" charset="0"/>
              </a:rPr>
              <a:t>RESEARCH GAP</a:t>
            </a:r>
            <a:endParaRPr lang="en-US" b="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A85F54C-1A81-2C49-FFEF-29C7774C1DD0}"/>
              </a:ext>
            </a:extLst>
          </p:cNvPr>
          <p:cNvSpPr txBox="1"/>
          <p:nvPr/>
        </p:nvSpPr>
        <p:spPr>
          <a:xfrm>
            <a:off x="742950" y="14343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5687805-088C-545C-A1C0-53780D0246A2}"/>
              </a:ext>
            </a:extLst>
          </p:cNvPr>
          <p:cNvSpPr txBox="1"/>
          <p:nvPr/>
        </p:nvSpPr>
        <p:spPr>
          <a:xfrm>
            <a:off x="504825" y="1062841"/>
            <a:ext cx="11315700" cy="2535566"/>
          </a:xfrm>
          <a:prstGeom prst="rect">
            <a:avLst/>
          </a:prstGeom>
          <a:noFill/>
        </p:spPr>
        <p:txBody>
          <a:bodyPr wrap="square">
            <a:sp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3. Complex User Interfaces</a:t>
            </a:r>
          </a:p>
          <a:p>
            <a:pPr algn="just">
              <a:lnSpc>
                <a:spcPct val="150000"/>
              </a:lnSpc>
            </a:pPr>
            <a:r>
              <a:rPr lang="en-US" b="1" dirty="0">
                <a:latin typeface="Times New Roman" panose="02020603050405020304" pitchFamily="18" charset="0"/>
                <a:cs typeface="Times New Roman" panose="02020603050405020304" pitchFamily="18" charset="0"/>
              </a:rPr>
              <a:t>Gap:</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Systems have complicated dashboards, making quick decision-making difficult.</a:t>
            </a:r>
          </a:p>
          <a:p>
            <a:pPr algn="just">
              <a:lnSpc>
                <a:spcPct val="150000"/>
              </a:lnSpc>
            </a:pPr>
            <a:r>
              <a:rPr lang="en-US" b="1" dirty="0">
                <a:latin typeface="Times New Roman" panose="02020603050405020304" pitchFamily="18" charset="0"/>
                <a:cs typeface="Times New Roman" panose="02020603050405020304" pitchFamily="18" charset="0"/>
              </a:rPr>
              <a:t>Solution: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Simplified Web Interface for easy access to live feeds, alerts, and logs.</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67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0A627-3335-A789-5B51-F1CD62A10A1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FC1EE4E-184A-5F16-6544-86A45A4577D9}"/>
              </a:ext>
            </a:extLst>
          </p:cNvPr>
          <p:cNvSpPr txBox="1"/>
          <p:nvPr/>
        </p:nvSpPr>
        <p:spPr>
          <a:xfrm>
            <a:off x="438150" y="11295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A41645D2-9C00-71E2-DBAB-D3D6288FCCCC}"/>
              </a:ext>
            </a:extLst>
          </p:cNvPr>
          <p:cNvSpPr txBox="1">
            <a:spLocks/>
          </p:cNvSpPr>
          <p:nvPr/>
        </p:nvSpPr>
        <p:spPr>
          <a:xfrm>
            <a:off x="2205990" y="464432"/>
            <a:ext cx="7780020" cy="333375"/>
          </a:xfrm>
          <a:prstGeom prst="rect">
            <a:avLst/>
          </a:prstGeom>
        </p:spPr>
        <p:txBody>
          <a:bodyPr vert="horz" lIns="0" tIns="0" rIns="0" bIns="0" rtlCol="0" anchor="ctr" anchorCtr="0">
            <a:normAutofit fontScale="25000" lnSpcReduction="20000"/>
          </a:bodyPr>
          <a:lstStyle>
            <a:lvl1pPr algn="ctr" defTabSz="914400" rtl="0" eaLnBrk="1" latinLnBrk="0" hangingPunct="1">
              <a:lnSpc>
                <a:spcPct val="90000"/>
              </a:lnSpc>
              <a:spcBef>
                <a:spcPct val="0"/>
              </a:spcBef>
              <a:buNone/>
              <a:defRPr sz="5400" kern="1200" cap="all" spc="300" baseline="0">
                <a:solidFill>
                  <a:schemeClr val="tx1"/>
                </a:solidFill>
                <a:latin typeface="+mj-lt"/>
                <a:ea typeface="+mj-ea"/>
                <a:cs typeface="Posterama" panose="020B0504020200020000" pitchFamily="34" charset="0"/>
              </a:defRPr>
            </a:lvl1pPr>
          </a:lstStyle>
          <a:p>
            <a:r>
              <a:rPr lang="en-US" sz="12800" b="1" u="sng" dirty="0">
                <a:latin typeface="Times New Roman" panose="02020603050405020304" pitchFamily="18" charset="0"/>
                <a:cs typeface="Times New Roman" panose="02020603050405020304" pitchFamily="18" charset="0"/>
              </a:rPr>
              <a:t>IMPORTANCE OF THE PROJECT</a:t>
            </a:r>
            <a:endParaRPr lang="en-US" b="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FF4AD0B-84A4-77A8-641A-BBC57773C260}"/>
              </a:ext>
            </a:extLst>
          </p:cNvPr>
          <p:cNvSpPr txBox="1"/>
          <p:nvPr/>
        </p:nvSpPr>
        <p:spPr>
          <a:xfrm>
            <a:off x="742950" y="14343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CFE352B-9DC3-A6E1-CC16-EB9573FDCFC6}"/>
              </a:ext>
            </a:extLst>
          </p:cNvPr>
          <p:cNvSpPr txBox="1"/>
          <p:nvPr/>
        </p:nvSpPr>
        <p:spPr>
          <a:xfrm>
            <a:off x="590550" y="12819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1E66844-4ACE-87A1-64DB-256EF5F95DA0}"/>
              </a:ext>
            </a:extLst>
          </p:cNvPr>
          <p:cNvSpPr txBox="1"/>
          <p:nvPr/>
        </p:nvSpPr>
        <p:spPr>
          <a:xfrm>
            <a:off x="742950" y="14343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E1F7ED53-E487-E663-553A-A179C23DB084}"/>
              </a:ext>
            </a:extLst>
          </p:cNvPr>
          <p:cNvSpPr>
            <a:spLocks noChangeArrowheads="1"/>
          </p:cNvSpPr>
          <p:nvPr/>
        </p:nvSpPr>
        <p:spPr bwMode="auto">
          <a:xfrm>
            <a:off x="300037" y="1129516"/>
            <a:ext cx="11896725"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Rising firearm-related threats require efficient weapon detection systems for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response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improved safety.</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Real-world Applications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public safety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places like airports, malls, and schools.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law enforcement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quick identification of potential threats.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private security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response times.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Industry/Society Potential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Transforms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industry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AI-driven real-time detection.</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Contributes to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cities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automated surveillance.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Offers global impact by reducing weapon-related violence and enhancing public security.</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23182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583CE-B957-3E8A-2D04-2347844FD43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F00F1DA-E641-10A0-3C8D-CFB745A93B87}"/>
              </a:ext>
            </a:extLst>
          </p:cNvPr>
          <p:cNvSpPr txBox="1"/>
          <p:nvPr/>
        </p:nvSpPr>
        <p:spPr>
          <a:xfrm>
            <a:off x="438150" y="11295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488B6A6F-CE67-3926-7D68-170A022CD884}"/>
              </a:ext>
            </a:extLst>
          </p:cNvPr>
          <p:cNvSpPr txBox="1">
            <a:spLocks/>
          </p:cNvSpPr>
          <p:nvPr/>
        </p:nvSpPr>
        <p:spPr>
          <a:xfrm>
            <a:off x="2205990" y="464432"/>
            <a:ext cx="7780020" cy="333375"/>
          </a:xfrm>
          <a:prstGeom prst="rect">
            <a:avLst/>
          </a:prstGeom>
        </p:spPr>
        <p:txBody>
          <a:bodyPr vert="horz" lIns="0" tIns="0" rIns="0" bIns="0" rtlCol="0" anchor="ctr" anchorCtr="0">
            <a:normAutofit fontScale="25000" lnSpcReduction="20000"/>
          </a:bodyPr>
          <a:lstStyle>
            <a:lvl1pPr algn="ctr" defTabSz="914400" rtl="0" eaLnBrk="1" latinLnBrk="0" hangingPunct="1">
              <a:lnSpc>
                <a:spcPct val="90000"/>
              </a:lnSpc>
              <a:spcBef>
                <a:spcPct val="0"/>
              </a:spcBef>
              <a:buNone/>
              <a:defRPr sz="5400" kern="1200" cap="all" spc="300" baseline="0">
                <a:solidFill>
                  <a:schemeClr val="tx1"/>
                </a:solidFill>
                <a:latin typeface="+mj-lt"/>
                <a:ea typeface="+mj-ea"/>
                <a:cs typeface="Posterama" panose="020B0504020200020000" pitchFamily="34" charset="0"/>
              </a:defRPr>
            </a:lvl1pPr>
          </a:lstStyle>
          <a:p>
            <a:r>
              <a:rPr lang="en-US" sz="12800" b="1" u="sng" dirty="0">
                <a:latin typeface="Times New Roman" panose="02020603050405020304" pitchFamily="18" charset="0"/>
                <a:cs typeface="Times New Roman" panose="02020603050405020304" pitchFamily="18" charset="0"/>
              </a:rPr>
              <a:t>PROPOSED SYSTEM</a:t>
            </a:r>
            <a:endParaRPr lang="en-US" b="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DE0CC43-C349-C554-1C97-2ACA33E90C0E}"/>
              </a:ext>
            </a:extLst>
          </p:cNvPr>
          <p:cNvSpPr txBox="1"/>
          <p:nvPr/>
        </p:nvSpPr>
        <p:spPr>
          <a:xfrm>
            <a:off x="742950" y="14343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6BF02ED-A50A-F17F-9818-BE7D78B03AD4}"/>
              </a:ext>
            </a:extLst>
          </p:cNvPr>
          <p:cNvSpPr txBox="1"/>
          <p:nvPr/>
        </p:nvSpPr>
        <p:spPr>
          <a:xfrm>
            <a:off x="590550" y="12819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78B51A0-32F2-7CD4-1D52-43B19B858738}"/>
              </a:ext>
            </a:extLst>
          </p:cNvPr>
          <p:cNvSpPr txBox="1"/>
          <p:nvPr/>
        </p:nvSpPr>
        <p:spPr>
          <a:xfrm>
            <a:off x="742950" y="1434316"/>
            <a:ext cx="11315700" cy="2308324"/>
          </a:xfrm>
          <a:prstGeom prst="rect">
            <a:avLst/>
          </a:prstGeom>
          <a:noFill/>
        </p:spPr>
        <p:txBody>
          <a:bodyPr wrap="square">
            <a:spAutoFit/>
          </a:bodyPr>
          <a:lstStyle/>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sz="18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51A74B7-459C-B130-DD9E-AAB03E6E2068}"/>
              </a:ext>
            </a:extLst>
          </p:cNvPr>
          <p:cNvSpPr>
            <a:spLocks noChangeArrowheads="1"/>
          </p:cNvSpPr>
          <p:nvPr/>
        </p:nvSpPr>
        <p:spPr bwMode="auto">
          <a:xfrm>
            <a:off x="371475" y="1341981"/>
            <a:ext cx="1189672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Proposed Solution:</a:t>
            </a:r>
          </a:p>
          <a:p>
            <a:pPr marR="0" lvl="0" algn="just"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Real-Time Weapon Detection System using YOLOv8 for object detection, OpenCV for image processing, and a Django server for storage.</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dirty="0">
                <a:latin typeface="Times New Roman" panose="02020603050405020304" pitchFamily="18" charset="0"/>
                <a:cs typeface="Times New Roman" panose="02020603050405020304" pitchFamily="18" charset="0"/>
              </a:rPr>
              <a:t>D</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etected frames for efficient data management and triggers instant alerts for rapid security response.</a:t>
            </a:r>
          </a:p>
          <a:p>
            <a:pPr marR="0" lvl="0" algn="just"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 &amp; Functionalities:</a:t>
            </a:r>
          </a:p>
          <a:p>
            <a:pPr marR="0" lvl="0" algn="just"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detection of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handguns</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Deep learning with YOLOv8 and OpenCV for image processing.</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Instant alerts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security personnel upon weapon detection.</a:t>
            </a:r>
          </a:p>
          <a:p>
            <a:pPr marR="0" lvl="0" algn="just"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161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ADB9B-EEE0-288A-BE6A-AE7A3DDC2F2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D7CA5098-E3CF-DB3F-B5AD-A20BC83EC5EA}"/>
              </a:ext>
            </a:extLst>
          </p:cNvPr>
          <p:cNvSpPr txBox="1">
            <a:spLocks/>
          </p:cNvSpPr>
          <p:nvPr/>
        </p:nvSpPr>
        <p:spPr>
          <a:xfrm>
            <a:off x="1758314" y="199049"/>
            <a:ext cx="9138286" cy="333375"/>
          </a:xfrm>
          <a:prstGeom prst="rect">
            <a:avLst/>
          </a:prstGeom>
        </p:spPr>
        <p:txBody>
          <a:bodyPr vert="horz" lIns="0" tIns="0" rIns="0" bIns="0" rtlCol="0" anchor="ctr" anchorCtr="0">
            <a:normAutofit fontScale="25000" lnSpcReduction="20000"/>
          </a:bodyPr>
          <a:lstStyle>
            <a:lvl1pPr algn="ctr" defTabSz="914400" rtl="0" eaLnBrk="1" latinLnBrk="0" hangingPunct="1">
              <a:lnSpc>
                <a:spcPct val="90000"/>
              </a:lnSpc>
              <a:spcBef>
                <a:spcPct val="0"/>
              </a:spcBef>
              <a:buNone/>
              <a:defRPr sz="5400" kern="1200" cap="all" spc="300" baseline="0">
                <a:solidFill>
                  <a:schemeClr val="tx1"/>
                </a:solidFill>
                <a:latin typeface="+mj-lt"/>
                <a:ea typeface="+mj-ea"/>
                <a:cs typeface="Posterama" panose="020B0504020200020000" pitchFamily="34" charset="0"/>
              </a:defRPr>
            </a:lvl1pPr>
          </a:lstStyle>
          <a:p>
            <a:r>
              <a:rPr lang="en-US" sz="12800" b="1" u="sng" dirty="0">
                <a:latin typeface="Times New Roman" panose="02020603050405020304" pitchFamily="18" charset="0"/>
                <a:cs typeface="Times New Roman" panose="02020603050405020304" pitchFamily="18" charset="0"/>
              </a:rPr>
              <a:t>PROPOSED SYSTEM </a:t>
            </a:r>
            <a:endParaRPr lang="en-US" b="1" u="sng"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CED6F75-0ADD-4A3E-F651-B2DD0AFA1F0B}"/>
              </a:ext>
            </a:extLst>
          </p:cNvPr>
          <p:cNvSpPr txBox="1"/>
          <p:nvPr/>
        </p:nvSpPr>
        <p:spPr>
          <a:xfrm>
            <a:off x="561975" y="952500"/>
            <a:ext cx="3213124"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Proposed System Architecture</a:t>
            </a:r>
            <a:r>
              <a:rPr lang="en-IN" dirty="0"/>
              <a:t>:</a:t>
            </a:r>
          </a:p>
        </p:txBody>
      </p:sp>
      <p:pic>
        <p:nvPicPr>
          <p:cNvPr id="8" name="Picture 7">
            <a:extLst>
              <a:ext uri="{FF2B5EF4-FFF2-40B4-BE49-F238E27FC236}">
                <a16:creationId xmlns:a16="http://schemas.microsoft.com/office/drawing/2014/main" id="{964C923C-8980-0515-6AFB-3E11F537F499}"/>
              </a:ext>
            </a:extLst>
          </p:cNvPr>
          <p:cNvPicPr>
            <a:picLocks noChangeAspect="1"/>
          </p:cNvPicPr>
          <p:nvPr/>
        </p:nvPicPr>
        <p:blipFill>
          <a:blip r:embed="rId3"/>
          <a:stretch>
            <a:fillRect/>
          </a:stretch>
        </p:blipFill>
        <p:spPr>
          <a:xfrm>
            <a:off x="5105238" y="1495425"/>
            <a:ext cx="1829124" cy="4914900"/>
          </a:xfrm>
          <a:prstGeom prst="rect">
            <a:avLst/>
          </a:prstGeom>
        </p:spPr>
      </p:pic>
    </p:spTree>
    <p:extLst>
      <p:ext uri="{BB962C8B-B14F-4D97-AF65-F5344CB8AC3E}">
        <p14:creationId xmlns:p14="http://schemas.microsoft.com/office/powerpoint/2010/main" val="4036182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BD681-5C8B-BC98-B97F-88E4E085C659}"/>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B45A2E0D-28C7-5BBA-13B4-1E66F74A9269}"/>
              </a:ext>
            </a:extLst>
          </p:cNvPr>
          <p:cNvSpPr txBox="1">
            <a:spLocks/>
          </p:cNvSpPr>
          <p:nvPr/>
        </p:nvSpPr>
        <p:spPr>
          <a:xfrm>
            <a:off x="2205989" y="228033"/>
            <a:ext cx="7780020" cy="333375"/>
          </a:xfrm>
          <a:prstGeom prst="rect">
            <a:avLst/>
          </a:prstGeom>
        </p:spPr>
        <p:txBody>
          <a:bodyPr vert="horz" lIns="0" tIns="0" rIns="0" bIns="0" rtlCol="0" anchor="ctr" anchorCtr="0">
            <a:normAutofit fontScale="25000" lnSpcReduction="20000"/>
          </a:bodyPr>
          <a:lstStyle>
            <a:lvl1pPr algn="ctr" defTabSz="914400" rtl="0" eaLnBrk="1" latinLnBrk="0" hangingPunct="1">
              <a:lnSpc>
                <a:spcPct val="90000"/>
              </a:lnSpc>
              <a:spcBef>
                <a:spcPct val="0"/>
              </a:spcBef>
              <a:buNone/>
              <a:defRPr sz="5400" kern="1200" cap="all" spc="300" baseline="0">
                <a:solidFill>
                  <a:schemeClr val="tx1"/>
                </a:solidFill>
                <a:latin typeface="+mj-lt"/>
                <a:ea typeface="+mj-ea"/>
                <a:cs typeface="Posterama" panose="020B0504020200020000" pitchFamily="34" charset="0"/>
              </a:defRPr>
            </a:lvl1pPr>
          </a:lstStyle>
          <a:p>
            <a:r>
              <a:rPr lang="en-US" sz="12800" b="1" u="sng" dirty="0">
                <a:latin typeface="Times New Roman" panose="02020603050405020304" pitchFamily="18" charset="0"/>
                <a:cs typeface="Times New Roman" panose="02020603050405020304" pitchFamily="18" charset="0"/>
              </a:rPr>
              <a:t>PROPOSED SYSTEM</a:t>
            </a:r>
            <a:endParaRPr lang="en-US" b="1" u="sng"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A5A1D18-94A5-C2E3-557B-D7FFDD6676A3}"/>
              </a:ext>
            </a:extLst>
          </p:cNvPr>
          <p:cNvSpPr>
            <a:spLocks noChangeArrowheads="1"/>
          </p:cNvSpPr>
          <p:nvPr/>
        </p:nvSpPr>
        <p:spPr bwMode="auto">
          <a:xfrm>
            <a:off x="581025" y="874335"/>
            <a:ext cx="118967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Architecture Comparison with previous versions:</a:t>
            </a:r>
          </a:p>
        </p:txBody>
      </p:sp>
      <p:pic>
        <p:nvPicPr>
          <p:cNvPr id="5" name="Picture 4">
            <a:extLst>
              <a:ext uri="{FF2B5EF4-FFF2-40B4-BE49-F238E27FC236}">
                <a16:creationId xmlns:a16="http://schemas.microsoft.com/office/drawing/2014/main" id="{F063E689-4595-65AD-4457-3F51AB520001}"/>
              </a:ext>
            </a:extLst>
          </p:cNvPr>
          <p:cNvPicPr>
            <a:picLocks noChangeAspect="1"/>
          </p:cNvPicPr>
          <p:nvPr/>
        </p:nvPicPr>
        <p:blipFill>
          <a:blip r:embed="rId3"/>
          <a:stretch>
            <a:fillRect/>
          </a:stretch>
        </p:blipFill>
        <p:spPr>
          <a:xfrm>
            <a:off x="1133466" y="1371589"/>
            <a:ext cx="9144018" cy="5486411"/>
          </a:xfrm>
          <a:prstGeom prst="rect">
            <a:avLst/>
          </a:prstGeom>
        </p:spPr>
      </p:pic>
    </p:spTree>
    <p:extLst>
      <p:ext uri="{BB962C8B-B14F-4D97-AF65-F5344CB8AC3E}">
        <p14:creationId xmlns:p14="http://schemas.microsoft.com/office/powerpoint/2010/main" val="3230489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2C50D-C33F-CACF-48BB-4E8E0115F052}"/>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7A67ED6A-813F-EF90-AF6B-CC79EC0CE01A}"/>
              </a:ext>
            </a:extLst>
          </p:cNvPr>
          <p:cNvSpPr txBox="1">
            <a:spLocks/>
          </p:cNvSpPr>
          <p:nvPr/>
        </p:nvSpPr>
        <p:spPr>
          <a:xfrm>
            <a:off x="1826895" y="464432"/>
            <a:ext cx="8538210" cy="333375"/>
          </a:xfrm>
          <a:prstGeom prst="rect">
            <a:avLst/>
          </a:prstGeom>
        </p:spPr>
        <p:txBody>
          <a:bodyPr vert="horz" lIns="0" tIns="0" rIns="0" bIns="0" rtlCol="0" anchor="ctr" anchorCtr="0">
            <a:normAutofit fontScale="25000" lnSpcReduction="20000"/>
          </a:bodyPr>
          <a:lstStyle>
            <a:lvl1pPr algn="ctr" defTabSz="914400" rtl="0" eaLnBrk="1" latinLnBrk="0" hangingPunct="1">
              <a:lnSpc>
                <a:spcPct val="90000"/>
              </a:lnSpc>
              <a:spcBef>
                <a:spcPct val="0"/>
              </a:spcBef>
              <a:buNone/>
              <a:defRPr sz="5400" kern="1200" cap="all" spc="300" baseline="0">
                <a:solidFill>
                  <a:schemeClr val="tx1"/>
                </a:solidFill>
                <a:latin typeface="+mj-lt"/>
                <a:ea typeface="+mj-ea"/>
                <a:cs typeface="Posterama" panose="020B0504020200020000" pitchFamily="34" charset="0"/>
              </a:defRPr>
            </a:lvl1pPr>
          </a:lstStyle>
          <a:p>
            <a:r>
              <a:rPr lang="en-US" sz="12800" b="1" u="sng" dirty="0">
                <a:latin typeface="Times New Roman" panose="02020603050405020304" pitchFamily="18" charset="0"/>
                <a:cs typeface="Times New Roman" panose="02020603050405020304" pitchFamily="18" charset="0"/>
              </a:rPr>
              <a:t>IMPLEMENTATION METHODOLOGY</a:t>
            </a:r>
            <a:endParaRPr lang="en-US" b="1" u="sng"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80A45DA-E986-9D3E-69A8-E659659A93BE}"/>
              </a:ext>
            </a:extLst>
          </p:cNvPr>
          <p:cNvSpPr txBox="1"/>
          <p:nvPr/>
        </p:nvSpPr>
        <p:spPr>
          <a:xfrm>
            <a:off x="323850" y="975995"/>
            <a:ext cx="11868150" cy="535531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Step-by-Step Execution:</a:t>
            </a:r>
          </a:p>
          <a:p>
            <a:endParaRPr lang="en-IN" dirty="0">
              <a:latin typeface="Times New Roman" panose="02020603050405020304" pitchFamily="18" charset="0"/>
              <a:cs typeface="Times New Roman" panose="02020603050405020304" pitchFamily="18" charset="0"/>
            </a:endParaRPr>
          </a:p>
          <a:p>
            <a:pPr>
              <a:lnSpc>
                <a:spcPct val="150000"/>
              </a:lnSpc>
            </a:pPr>
            <a:r>
              <a:rPr lang="en-IN" b="1" dirty="0">
                <a:latin typeface="Times New Roman" panose="02020603050405020304" pitchFamily="18" charset="0"/>
                <a:cs typeface="Times New Roman" panose="02020603050405020304" pitchFamily="18" charset="0"/>
              </a:rPr>
              <a:t>1. Requirements Gathering: </a:t>
            </a:r>
            <a:r>
              <a:rPr lang="en-IN" dirty="0">
                <a:latin typeface="Times New Roman" panose="02020603050405020304" pitchFamily="18" charset="0"/>
                <a:cs typeface="Times New Roman" panose="02020603050405020304" pitchFamily="18" charset="0"/>
              </a:rPr>
              <a:t>Define system needs (camera, hardware, software) and research technologies</a:t>
            </a:r>
            <a:r>
              <a:rPr lang="en-IN" b="1" dirty="0">
                <a:latin typeface="Times New Roman" panose="02020603050405020304" pitchFamily="18" charset="0"/>
                <a:cs typeface="Times New Roman" panose="02020603050405020304" pitchFamily="18" charset="0"/>
              </a:rPr>
              <a:t> (YOLOv8, OpenCV, Django).</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2. System Design: </a:t>
            </a:r>
            <a:r>
              <a:rPr lang="en-IN" dirty="0">
                <a:latin typeface="Times New Roman" panose="02020603050405020304" pitchFamily="18" charset="0"/>
                <a:cs typeface="Times New Roman" panose="02020603050405020304" pitchFamily="18" charset="0"/>
              </a:rPr>
              <a:t>Design architecture, integrate YOLOv8, image processing.</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3. Development:</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Integrate YOLOv8 for detection.</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Implement OpenCV for image enhancement.</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4. Testing: </a:t>
            </a:r>
            <a:r>
              <a:rPr lang="en-IN" dirty="0">
                <a:latin typeface="Times New Roman" panose="02020603050405020304" pitchFamily="18" charset="0"/>
                <a:cs typeface="Times New Roman" panose="02020603050405020304" pitchFamily="18" charset="0"/>
              </a:rPr>
              <a:t>Integrate and test system components, validate detection accuracy, and test scalability.</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5. Alert Setup: </a:t>
            </a:r>
            <a:r>
              <a:rPr lang="en-IN" dirty="0">
                <a:latin typeface="Times New Roman" panose="02020603050405020304" pitchFamily="18" charset="0"/>
                <a:cs typeface="Times New Roman" panose="02020603050405020304" pitchFamily="18" charset="0"/>
              </a:rPr>
              <a:t>Develop instant alert system for security personnel </a:t>
            </a:r>
            <a:r>
              <a:rPr lang="en-IN" b="1" dirty="0">
                <a:latin typeface="Times New Roman" panose="02020603050405020304" pitchFamily="18" charset="0"/>
                <a:cs typeface="Times New Roman" panose="02020603050405020304" pitchFamily="18" charset="0"/>
              </a:rPr>
              <a:t>(SMS or E-mail)</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8326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9BB45-3EED-32C5-9930-30BEFFE15DB8}"/>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91BAFEA1-0BB6-C248-DB39-E7DD280D38EA}"/>
              </a:ext>
            </a:extLst>
          </p:cNvPr>
          <p:cNvSpPr txBox="1"/>
          <p:nvPr/>
        </p:nvSpPr>
        <p:spPr>
          <a:xfrm>
            <a:off x="488950" y="680720"/>
            <a:ext cx="8451994" cy="923330"/>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6. Deployment &amp; Monitoring: </a:t>
            </a:r>
            <a:r>
              <a:rPr lang="en-US" dirty="0">
                <a:latin typeface="Times New Roman" panose="02020603050405020304" pitchFamily="18" charset="0"/>
                <a:cs typeface="Times New Roman" panose="02020603050405020304" pitchFamily="18" charset="0"/>
              </a:rPr>
              <a:t>Deploy in target environments and monitor performance.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7. Maintenance</a:t>
            </a:r>
            <a:r>
              <a:rPr lang="en-US" dirty="0">
                <a:latin typeface="Times New Roman" panose="02020603050405020304" pitchFamily="18" charset="0"/>
                <a:cs typeface="Times New Roman" panose="02020603050405020304" pitchFamily="18" charset="0"/>
              </a:rPr>
              <a:t>: Continuously improve system accuracy and performance.</a:t>
            </a:r>
            <a:endParaRPr lang="en-IN" dirty="0">
              <a:latin typeface="Times New Roman" panose="02020603050405020304" pitchFamily="18" charset="0"/>
              <a:cs typeface="Times New Roman" panose="02020603050405020304" pitchFamily="18" charset="0"/>
            </a:endParaRPr>
          </a:p>
        </p:txBody>
      </p:sp>
      <p:pic>
        <p:nvPicPr>
          <p:cNvPr id="1028" name="Picture 4">
            <a:extLst>
              <a:ext uri="{FF2B5EF4-FFF2-40B4-BE49-F238E27FC236}">
                <a16:creationId xmlns:a16="http://schemas.microsoft.com/office/drawing/2014/main" id="{917CE488-4900-FC68-DBAC-48555DBA24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5025" y="1821816"/>
            <a:ext cx="7467600" cy="4605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708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D74B0-AF83-5480-6C43-428394B1253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B7E2D1A-A4A9-FC6B-4B13-38B3B7EC8A7E}"/>
              </a:ext>
            </a:extLst>
          </p:cNvPr>
          <p:cNvSpPr txBox="1"/>
          <p:nvPr/>
        </p:nvSpPr>
        <p:spPr>
          <a:xfrm>
            <a:off x="1950720" y="426720"/>
            <a:ext cx="8710783" cy="584775"/>
          </a:xfrm>
          <a:prstGeom prst="rect">
            <a:avLst/>
          </a:prstGeom>
          <a:noFill/>
        </p:spPr>
        <p:txBody>
          <a:bodyPr wrap="none" rtlCol="0">
            <a:spAutoFit/>
          </a:bodyPr>
          <a:lstStyle/>
          <a:p>
            <a:pPr algn="ctr"/>
            <a:r>
              <a:rPr lang="en-IN" sz="3200" b="1" u="sng" dirty="0">
                <a:latin typeface="Times New Roman" panose="02020603050405020304" pitchFamily="18" charset="0"/>
                <a:cs typeface="Times New Roman" panose="02020603050405020304" pitchFamily="18" charset="0"/>
              </a:rPr>
              <a:t>TECHNOLOGY SUPPORT FOR EXECUTION</a:t>
            </a:r>
          </a:p>
        </p:txBody>
      </p:sp>
      <p:graphicFrame>
        <p:nvGraphicFramePr>
          <p:cNvPr id="3" name="Table 2">
            <a:extLst>
              <a:ext uri="{FF2B5EF4-FFF2-40B4-BE49-F238E27FC236}">
                <a16:creationId xmlns:a16="http://schemas.microsoft.com/office/drawing/2014/main" id="{C919B71B-FD34-87C3-8C12-532B0A6E3302}"/>
              </a:ext>
            </a:extLst>
          </p:cNvPr>
          <p:cNvGraphicFramePr>
            <a:graphicFrameLocks noGrp="1"/>
          </p:cNvGraphicFramePr>
          <p:nvPr>
            <p:extLst>
              <p:ext uri="{D42A27DB-BD31-4B8C-83A1-F6EECF244321}">
                <p14:modId xmlns:p14="http://schemas.microsoft.com/office/powerpoint/2010/main" val="19022244"/>
              </p:ext>
            </p:extLst>
          </p:nvPr>
        </p:nvGraphicFramePr>
        <p:xfrm>
          <a:off x="1138237" y="1576915"/>
          <a:ext cx="9915525" cy="3026341"/>
        </p:xfrm>
        <a:graphic>
          <a:graphicData uri="http://schemas.openxmlformats.org/drawingml/2006/table">
            <a:tbl>
              <a:tblPr firstRow="1" bandRow="1">
                <a:tableStyleId>{BDBED569-4797-4DF1-A0F4-6AAB3CD982D8}</a:tableStyleId>
              </a:tblPr>
              <a:tblGrid>
                <a:gridCol w="3038943">
                  <a:extLst>
                    <a:ext uri="{9D8B030D-6E8A-4147-A177-3AD203B41FA5}">
                      <a16:colId xmlns:a16="http://schemas.microsoft.com/office/drawing/2014/main" val="13149835"/>
                    </a:ext>
                  </a:extLst>
                </a:gridCol>
                <a:gridCol w="2899512">
                  <a:extLst>
                    <a:ext uri="{9D8B030D-6E8A-4147-A177-3AD203B41FA5}">
                      <a16:colId xmlns:a16="http://schemas.microsoft.com/office/drawing/2014/main" val="3878543649"/>
                    </a:ext>
                  </a:extLst>
                </a:gridCol>
                <a:gridCol w="3977070">
                  <a:extLst>
                    <a:ext uri="{9D8B030D-6E8A-4147-A177-3AD203B41FA5}">
                      <a16:colId xmlns:a16="http://schemas.microsoft.com/office/drawing/2014/main" val="154050018"/>
                    </a:ext>
                  </a:extLst>
                </a:gridCol>
              </a:tblGrid>
              <a:tr h="366185">
                <a:tc>
                  <a:txBody>
                    <a:bodyPr/>
                    <a:lstStyle/>
                    <a:p>
                      <a:pPr algn="ctr"/>
                      <a:r>
                        <a:rPr lang="en-IN" dirty="0">
                          <a:latin typeface="Times New Roman" panose="02020603050405020304" pitchFamily="18" charset="0"/>
                          <a:cs typeface="Times New Roman" panose="02020603050405020304" pitchFamily="18" charset="0"/>
                        </a:rPr>
                        <a:t>Category</a:t>
                      </a:r>
                    </a:p>
                  </a:txBody>
                  <a:tcPr/>
                </a:tc>
                <a:tc>
                  <a:txBody>
                    <a:bodyPr/>
                    <a:lstStyle/>
                    <a:p>
                      <a:pPr algn="ctr"/>
                      <a:r>
                        <a:rPr lang="en-IN" dirty="0">
                          <a:latin typeface="Times New Roman" panose="02020603050405020304" pitchFamily="18" charset="0"/>
                          <a:cs typeface="Times New Roman" panose="02020603050405020304" pitchFamily="18" charset="0"/>
                        </a:rPr>
                        <a:t>Technology</a:t>
                      </a:r>
                    </a:p>
                  </a:txBody>
                  <a:tcPr/>
                </a:tc>
                <a:tc>
                  <a:txBody>
                    <a:bodyPr/>
                    <a:lstStyle/>
                    <a:p>
                      <a:pPr algn="ctr"/>
                      <a:r>
                        <a:rPr lang="en-IN" dirty="0">
                          <a:latin typeface="Times New Roman" panose="02020603050405020304" pitchFamily="18" charset="0"/>
                          <a:cs typeface="Times New Roman" panose="02020603050405020304" pitchFamily="18" charset="0"/>
                        </a:rPr>
                        <a:t>Reason for choice</a:t>
                      </a:r>
                    </a:p>
                  </a:txBody>
                  <a:tcPr/>
                </a:tc>
                <a:extLst>
                  <a:ext uri="{0D108BD9-81ED-4DB2-BD59-A6C34878D82A}">
                    <a16:rowId xmlns:a16="http://schemas.microsoft.com/office/drawing/2014/main" val="1937337445"/>
                  </a:ext>
                </a:extLst>
              </a:tr>
              <a:tr h="507118">
                <a:tc>
                  <a:txBody>
                    <a:bodyPr/>
                    <a:lstStyle/>
                    <a:p>
                      <a:pPr algn="ctr"/>
                      <a:r>
                        <a:rPr lang="en-IN" b="1" dirty="0">
                          <a:latin typeface="Times New Roman" panose="02020603050405020304" pitchFamily="18" charset="0"/>
                          <a:cs typeface="Times New Roman" panose="02020603050405020304" pitchFamily="18" charset="0"/>
                        </a:rPr>
                        <a:t>Model</a:t>
                      </a:r>
                    </a:p>
                  </a:txBody>
                  <a:tcPr/>
                </a:tc>
                <a:tc>
                  <a:txBody>
                    <a:bodyPr/>
                    <a:lstStyle/>
                    <a:p>
                      <a:pPr algn="ctr"/>
                      <a:r>
                        <a:rPr lang="en-IN" dirty="0">
                          <a:latin typeface="Times New Roman" panose="02020603050405020304" pitchFamily="18" charset="0"/>
                          <a:cs typeface="Times New Roman" panose="02020603050405020304" pitchFamily="18" charset="0"/>
                        </a:rPr>
                        <a:t>YOLOV8</a:t>
                      </a:r>
                    </a:p>
                  </a:txBody>
                  <a:tcPr/>
                </a:tc>
                <a:tc>
                  <a:txBody>
                    <a:bodyPr/>
                    <a:lstStyle/>
                    <a:p>
                      <a:r>
                        <a:rPr lang="en-IN" dirty="0">
                          <a:latin typeface="Times New Roman" panose="02020603050405020304" pitchFamily="18" charset="0"/>
                          <a:cs typeface="Times New Roman" panose="02020603050405020304" pitchFamily="18" charset="0"/>
                        </a:rPr>
                        <a:t>Real-time weapon detection</a:t>
                      </a:r>
                    </a:p>
                  </a:txBody>
                  <a:tcPr/>
                </a:tc>
                <a:extLst>
                  <a:ext uri="{0D108BD9-81ED-4DB2-BD59-A6C34878D82A}">
                    <a16:rowId xmlns:a16="http://schemas.microsoft.com/office/drawing/2014/main" val="607984440"/>
                  </a:ext>
                </a:extLst>
              </a:tr>
              <a:tr h="235832">
                <a:tc>
                  <a:txBody>
                    <a:bodyPr/>
                    <a:lstStyle/>
                    <a:p>
                      <a:pPr algn="ctr"/>
                      <a:r>
                        <a:rPr lang="en-IN" b="1" dirty="0">
                          <a:latin typeface="Times New Roman" panose="02020603050405020304" pitchFamily="18" charset="0"/>
                          <a:cs typeface="Times New Roman" panose="02020603050405020304" pitchFamily="18" charset="0"/>
                        </a:rPr>
                        <a:t>Libraries</a:t>
                      </a:r>
                    </a:p>
                  </a:txBody>
                  <a:tcPr/>
                </a:tc>
                <a:tc>
                  <a:txBody>
                    <a:bodyPr/>
                    <a:lstStyle/>
                    <a:p>
                      <a:pPr algn="ctr"/>
                      <a:r>
                        <a:rPr lang="en-IN" dirty="0">
                          <a:latin typeface="Times New Roman" panose="02020603050405020304" pitchFamily="18" charset="0"/>
                          <a:cs typeface="Times New Roman" panose="02020603050405020304" pitchFamily="18" charset="0"/>
                        </a:rPr>
                        <a:t>OpenCV</a:t>
                      </a:r>
                    </a:p>
                  </a:txBody>
                  <a:tcPr/>
                </a:tc>
                <a:tc>
                  <a:txBody>
                    <a:bodyPr/>
                    <a:lstStyle/>
                    <a:p>
                      <a:r>
                        <a:rPr lang="en-IN" dirty="0">
                          <a:latin typeface="Times New Roman" panose="02020603050405020304" pitchFamily="18" charset="0"/>
                          <a:cs typeface="Times New Roman" panose="02020603050405020304" pitchFamily="18" charset="0"/>
                        </a:rPr>
                        <a:t>Image processing and enhancement</a:t>
                      </a:r>
                    </a:p>
                  </a:txBody>
                  <a:tcPr/>
                </a:tc>
                <a:extLst>
                  <a:ext uri="{0D108BD9-81ED-4DB2-BD59-A6C34878D82A}">
                    <a16:rowId xmlns:a16="http://schemas.microsoft.com/office/drawing/2014/main" val="2604498335"/>
                  </a:ext>
                </a:extLst>
              </a:tr>
              <a:tr h="507118">
                <a:tc>
                  <a:txBody>
                    <a:bodyPr/>
                    <a:lstStyle/>
                    <a:p>
                      <a:pPr algn="ctr"/>
                      <a:r>
                        <a:rPr lang="en-IN" b="1" dirty="0">
                          <a:latin typeface="Times New Roman" panose="02020603050405020304" pitchFamily="18" charset="0"/>
                          <a:cs typeface="Times New Roman" panose="02020603050405020304" pitchFamily="18" charset="0"/>
                        </a:rPr>
                        <a:t>Frameworks</a:t>
                      </a:r>
                    </a:p>
                  </a:txBody>
                  <a:tcPr/>
                </a:tc>
                <a:tc>
                  <a:txBody>
                    <a:bodyPr/>
                    <a:lstStyle/>
                    <a:p>
                      <a:pPr algn="ctr"/>
                      <a:r>
                        <a:rPr lang="en-IN" dirty="0">
                          <a:latin typeface="Times New Roman" panose="02020603050405020304" pitchFamily="18" charset="0"/>
                          <a:cs typeface="Times New Roman" panose="02020603050405020304" pitchFamily="18" charset="0"/>
                        </a:rPr>
                        <a:t>Django</a:t>
                      </a:r>
                    </a:p>
                  </a:txBody>
                  <a:tcPr anchor="ctr"/>
                </a:tc>
                <a:tc>
                  <a:txBody>
                    <a:bodyPr/>
                    <a:lstStyle/>
                    <a:p>
                      <a:r>
                        <a:rPr lang="en-US" dirty="0">
                          <a:latin typeface="Times New Roman" panose="02020603050405020304" pitchFamily="18" charset="0"/>
                          <a:cs typeface="Times New Roman" panose="02020603050405020304" pitchFamily="18" charset="0"/>
                        </a:rPr>
                        <a:t>Backend framework for deployment and alert management</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71446655"/>
                  </a:ext>
                </a:extLst>
              </a:tr>
              <a:tr h="507118">
                <a:tc>
                  <a:txBody>
                    <a:bodyPr/>
                    <a:lstStyle/>
                    <a:p>
                      <a:pPr algn="ctr"/>
                      <a:r>
                        <a:rPr lang="en-IN" b="1" dirty="0">
                          <a:latin typeface="Times New Roman" panose="02020603050405020304" pitchFamily="18" charset="0"/>
                          <a:cs typeface="Times New Roman" panose="02020603050405020304" pitchFamily="18" charset="0"/>
                        </a:rPr>
                        <a:t>Programming Languages</a:t>
                      </a:r>
                    </a:p>
                  </a:txBody>
                  <a:tcPr/>
                </a:tc>
                <a:tc>
                  <a:txBody>
                    <a:bodyPr/>
                    <a:lstStyle/>
                    <a:p>
                      <a:pPr algn="ctr"/>
                      <a:r>
                        <a:rPr lang="en-IN" dirty="0">
                          <a:latin typeface="Times New Roman" panose="02020603050405020304" pitchFamily="18" charset="0"/>
                          <a:cs typeface="Times New Roman" panose="02020603050405020304" pitchFamily="18" charset="0"/>
                        </a:rPr>
                        <a:t>Python</a:t>
                      </a:r>
                    </a:p>
                  </a:txBody>
                  <a:tcPr/>
                </a:tc>
                <a:tc>
                  <a:txBody>
                    <a:bodyPr/>
                    <a:lstStyle/>
                    <a:p>
                      <a:r>
                        <a:rPr lang="en-US" dirty="0">
                          <a:latin typeface="Times New Roman" panose="02020603050405020304" pitchFamily="18" charset="0"/>
                          <a:cs typeface="Times New Roman" panose="02020603050405020304" pitchFamily="18" charset="0"/>
                        </a:rPr>
                        <a:t>Ideal for AI and image processing with robust libraries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2972312"/>
                  </a:ext>
                </a:extLst>
              </a:tr>
              <a:tr h="507118">
                <a:tc>
                  <a:txBody>
                    <a:bodyPr/>
                    <a:lstStyle/>
                    <a:p>
                      <a:pPr algn="ctr"/>
                      <a:r>
                        <a:rPr lang="en-IN" b="1" dirty="0">
                          <a:latin typeface="Times New Roman" panose="02020603050405020304" pitchFamily="18" charset="0"/>
                          <a:cs typeface="Times New Roman" panose="02020603050405020304" pitchFamily="18" charset="0"/>
                        </a:rPr>
                        <a:t>Datasets</a:t>
                      </a:r>
                    </a:p>
                  </a:txBody>
                  <a:tcPr/>
                </a:tc>
                <a:tc>
                  <a:txBody>
                    <a:bodyPr/>
                    <a:lstStyle/>
                    <a:p>
                      <a:pPr algn="ctr"/>
                      <a:r>
                        <a:rPr lang="en-IN" dirty="0">
                          <a:latin typeface="Times New Roman" panose="02020603050405020304" pitchFamily="18" charset="0"/>
                          <a:cs typeface="Times New Roman" panose="02020603050405020304" pitchFamily="18" charset="0"/>
                        </a:rPr>
                        <a:t>Weapon Detection Datasets</a:t>
                      </a:r>
                    </a:p>
                  </a:txBody>
                  <a:tcPr anchor="ctr"/>
                </a:tc>
                <a:tc>
                  <a:txBody>
                    <a:bodyPr/>
                    <a:lstStyle/>
                    <a:p>
                      <a:r>
                        <a:rPr lang="en-US" dirty="0">
                          <a:latin typeface="Times New Roman" panose="02020603050405020304" pitchFamily="18" charset="0"/>
                          <a:cs typeface="Times New Roman" panose="02020603050405020304" pitchFamily="18" charset="0"/>
                        </a:rPr>
                        <a:t>Labeled datasets for training and testing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95708517"/>
                  </a:ext>
                </a:extLst>
              </a:tr>
            </a:tbl>
          </a:graphicData>
        </a:graphic>
      </p:graphicFrame>
    </p:spTree>
    <p:extLst>
      <p:ext uri="{BB962C8B-B14F-4D97-AF65-F5344CB8AC3E}">
        <p14:creationId xmlns:p14="http://schemas.microsoft.com/office/powerpoint/2010/main" val="1797563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22B98-9A2E-5C99-8BC1-EAA25C6916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CEEFE6-C1A3-CBCD-112A-48A53B416CC9}"/>
              </a:ext>
            </a:extLst>
          </p:cNvPr>
          <p:cNvSpPr txBox="1"/>
          <p:nvPr/>
        </p:nvSpPr>
        <p:spPr>
          <a:xfrm>
            <a:off x="4771177" y="426720"/>
            <a:ext cx="3069879" cy="584775"/>
          </a:xfrm>
          <a:prstGeom prst="rect">
            <a:avLst/>
          </a:prstGeom>
          <a:noFill/>
        </p:spPr>
        <p:txBody>
          <a:bodyPr wrap="none" rtlCol="0">
            <a:spAutoFit/>
          </a:bodyPr>
          <a:lstStyle/>
          <a:p>
            <a:pPr algn="ctr"/>
            <a:r>
              <a:rPr lang="en-IN" sz="3200" b="1" u="sng" dirty="0">
                <a:latin typeface="Times New Roman" panose="02020603050405020304" pitchFamily="18" charset="0"/>
                <a:cs typeface="Times New Roman" panose="02020603050405020304" pitchFamily="18" charset="0"/>
              </a:rPr>
              <a:t>UML Diagrams:</a:t>
            </a:r>
          </a:p>
        </p:txBody>
      </p:sp>
      <p:pic>
        <p:nvPicPr>
          <p:cNvPr id="9" name="Picture 8">
            <a:extLst>
              <a:ext uri="{FF2B5EF4-FFF2-40B4-BE49-F238E27FC236}">
                <a16:creationId xmlns:a16="http://schemas.microsoft.com/office/drawing/2014/main" id="{19AF2C2C-1A48-D8EA-27F1-45D422F0366D}"/>
              </a:ext>
            </a:extLst>
          </p:cNvPr>
          <p:cNvPicPr>
            <a:picLocks noChangeAspect="1"/>
          </p:cNvPicPr>
          <p:nvPr/>
        </p:nvPicPr>
        <p:blipFill>
          <a:blip r:embed="rId2"/>
          <a:stretch>
            <a:fillRect/>
          </a:stretch>
        </p:blipFill>
        <p:spPr>
          <a:xfrm>
            <a:off x="2433637" y="1678305"/>
            <a:ext cx="6696075" cy="4752975"/>
          </a:xfrm>
          <a:prstGeom prst="rect">
            <a:avLst/>
          </a:prstGeom>
        </p:spPr>
      </p:pic>
      <p:sp>
        <p:nvSpPr>
          <p:cNvPr id="10" name="TextBox 9">
            <a:extLst>
              <a:ext uri="{FF2B5EF4-FFF2-40B4-BE49-F238E27FC236}">
                <a16:creationId xmlns:a16="http://schemas.microsoft.com/office/drawing/2014/main" id="{8FE138BC-80DF-21C5-AA22-0910BCA2BAEB}"/>
              </a:ext>
            </a:extLst>
          </p:cNvPr>
          <p:cNvSpPr txBox="1"/>
          <p:nvPr/>
        </p:nvSpPr>
        <p:spPr>
          <a:xfrm>
            <a:off x="1857375" y="1160234"/>
            <a:ext cx="2082621"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Use Case Diagram:</a:t>
            </a:r>
          </a:p>
        </p:txBody>
      </p:sp>
    </p:spTree>
    <p:extLst>
      <p:ext uri="{BB962C8B-B14F-4D97-AF65-F5344CB8AC3E}">
        <p14:creationId xmlns:p14="http://schemas.microsoft.com/office/powerpoint/2010/main" val="2853104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2FE90-8F51-E484-2348-E490059CF0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9FF861C-29A6-9E18-5A9C-3F0BA558920C}"/>
              </a:ext>
            </a:extLst>
          </p:cNvPr>
          <p:cNvSpPr txBox="1"/>
          <p:nvPr/>
        </p:nvSpPr>
        <p:spPr>
          <a:xfrm>
            <a:off x="4771177" y="426720"/>
            <a:ext cx="3069879" cy="584775"/>
          </a:xfrm>
          <a:prstGeom prst="rect">
            <a:avLst/>
          </a:prstGeom>
          <a:noFill/>
        </p:spPr>
        <p:txBody>
          <a:bodyPr wrap="none" rtlCol="0">
            <a:spAutoFit/>
          </a:bodyPr>
          <a:lstStyle/>
          <a:p>
            <a:pPr algn="ctr"/>
            <a:r>
              <a:rPr lang="en-IN" sz="3200" b="1" u="sng" dirty="0">
                <a:latin typeface="Times New Roman" panose="02020603050405020304" pitchFamily="18" charset="0"/>
                <a:cs typeface="Times New Roman" panose="02020603050405020304" pitchFamily="18" charset="0"/>
              </a:rPr>
              <a:t>UML Diagrams:</a:t>
            </a:r>
          </a:p>
        </p:txBody>
      </p:sp>
      <p:sp>
        <p:nvSpPr>
          <p:cNvPr id="10" name="TextBox 9">
            <a:extLst>
              <a:ext uri="{FF2B5EF4-FFF2-40B4-BE49-F238E27FC236}">
                <a16:creationId xmlns:a16="http://schemas.microsoft.com/office/drawing/2014/main" id="{53270EB7-8925-1B41-2245-81833B3A43A0}"/>
              </a:ext>
            </a:extLst>
          </p:cNvPr>
          <p:cNvSpPr txBox="1"/>
          <p:nvPr/>
        </p:nvSpPr>
        <p:spPr>
          <a:xfrm>
            <a:off x="1857375" y="1160234"/>
            <a:ext cx="2114681"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Sequence Diagram:</a:t>
            </a:r>
          </a:p>
        </p:txBody>
      </p:sp>
      <p:pic>
        <p:nvPicPr>
          <p:cNvPr id="4" name="Picture 3">
            <a:extLst>
              <a:ext uri="{FF2B5EF4-FFF2-40B4-BE49-F238E27FC236}">
                <a16:creationId xmlns:a16="http://schemas.microsoft.com/office/drawing/2014/main" id="{284B4BAB-5E03-3EE2-6FF0-FC31523E1723}"/>
              </a:ext>
            </a:extLst>
          </p:cNvPr>
          <p:cNvPicPr>
            <a:picLocks noChangeAspect="1"/>
          </p:cNvPicPr>
          <p:nvPr/>
        </p:nvPicPr>
        <p:blipFill>
          <a:blip r:embed="rId2"/>
          <a:stretch>
            <a:fillRect/>
          </a:stretch>
        </p:blipFill>
        <p:spPr>
          <a:xfrm>
            <a:off x="1938337" y="1868716"/>
            <a:ext cx="8315325" cy="3829050"/>
          </a:xfrm>
          <a:prstGeom prst="rect">
            <a:avLst/>
          </a:prstGeom>
        </p:spPr>
      </p:pic>
    </p:spTree>
    <p:extLst>
      <p:ext uri="{BB962C8B-B14F-4D97-AF65-F5344CB8AC3E}">
        <p14:creationId xmlns:p14="http://schemas.microsoft.com/office/powerpoint/2010/main" val="1983441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ABCD7-71E4-A40D-5E22-F00E1AAF3A4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12038A-AA7F-8BB8-425C-D6CD82DDED7F}"/>
              </a:ext>
            </a:extLst>
          </p:cNvPr>
          <p:cNvSpPr txBox="1"/>
          <p:nvPr/>
        </p:nvSpPr>
        <p:spPr>
          <a:xfrm>
            <a:off x="4771177" y="426720"/>
            <a:ext cx="3069879" cy="584775"/>
          </a:xfrm>
          <a:prstGeom prst="rect">
            <a:avLst/>
          </a:prstGeom>
          <a:noFill/>
        </p:spPr>
        <p:txBody>
          <a:bodyPr wrap="none" rtlCol="0">
            <a:spAutoFit/>
          </a:bodyPr>
          <a:lstStyle/>
          <a:p>
            <a:pPr algn="ctr"/>
            <a:r>
              <a:rPr lang="en-IN" sz="3200" b="1" u="sng" dirty="0">
                <a:latin typeface="Times New Roman" panose="02020603050405020304" pitchFamily="18" charset="0"/>
                <a:cs typeface="Times New Roman" panose="02020603050405020304" pitchFamily="18" charset="0"/>
              </a:rPr>
              <a:t>UML Diagrams:</a:t>
            </a:r>
          </a:p>
        </p:txBody>
      </p:sp>
      <p:sp>
        <p:nvSpPr>
          <p:cNvPr id="10" name="TextBox 9">
            <a:extLst>
              <a:ext uri="{FF2B5EF4-FFF2-40B4-BE49-F238E27FC236}">
                <a16:creationId xmlns:a16="http://schemas.microsoft.com/office/drawing/2014/main" id="{CF046B65-507C-3A4F-EB8B-EA3E337491D7}"/>
              </a:ext>
            </a:extLst>
          </p:cNvPr>
          <p:cNvSpPr txBox="1"/>
          <p:nvPr/>
        </p:nvSpPr>
        <p:spPr>
          <a:xfrm>
            <a:off x="1113565" y="864140"/>
            <a:ext cx="2935419"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Package Diagram:</a:t>
            </a:r>
          </a:p>
        </p:txBody>
      </p:sp>
      <p:pic>
        <p:nvPicPr>
          <p:cNvPr id="5" name="Picture 4">
            <a:extLst>
              <a:ext uri="{FF2B5EF4-FFF2-40B4-BE49-F238E27FC236}">
                <a16:creationId xmlns:a16="http://schemas.microsoft.com/office/drawing/2014/main" id="{FA7AB3BC-D5BB-943E-3BD0-DC0D12186E2B}"/>
              </a:ext>
            </a:extLst>
          </p:cNvPr>
          <p:cNvPicPr>
            <a:picLocks noChangeAspect="1"/>
          </p:cNvPicPr>
          <p:nvPr/>
        </p:nvPicPr>
        <p:blipFill>
          <a:blip r:embed="rId2"/>
          <a:stretch>
            <a:fillRect/>
          </a:stretch>
        </p:blipFill>
        <p:spPr>
          <a:xfrm>
            <a:off x="2581275" y="1455449"/>
            <a:ext cx="7029450" cy="5046168"/>
          </a:xfrm>
          <a:prstGeom prst="rect">
            <a:avLst/>
          </a:prstGeom>
        </p:spPr>
      </p:pic>
    </p:spTree>
    <p:extLst>
      <p:ext uri="{BB962C8B-B14F-4D97-AF65-F5344CB8AC3E}">
        <p14:creationId xmlns:p14="http://schemas.microsoft.com/office/powerpoint/2010/main" val="3830896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F52D2-C4E0-CC0F-0B9A-4E502C2D01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77CB011-6510-776C-C15D-2BDEE37BCA57}"/>
              </a:ext>
            </a:extLst>
          </p:cNvPr>
          <p:cNvSpPr txBox="1"/>
          <p:nvPr/>
        </p:nvSpPr>
        <p:spPr>
          <a:xfrm>
            <a:off x="5199175" y="426720"/>
            <a:ext cx="2213876" cy="584775"/>
          </a:xfrm>
          <a:prstGeom prst="rect">
            <a:avLst/>
          </a:prstGeom>
          <a:noFill/>
        </p:spPr>
        <p:txBody>
          <a:bodyPr wrap="none" rtlCol="0">
            <a:spAutoFit/>
          </a:bodyPr>
          <a:lstStyle/>
          <a:p>
            <a:pPr algn="ctr"/>
            <a:r>
              <a:rPr lang="en-IN" sz="3200" b="1" u="sng" dirty="0">
                <a:latin typeface="Times New Roman" panose="02020603050405020304" pitchFamily="18" charset="0"/>
                <a:cs typeface="Times New Roman" panose="02020603050405020304" pitchFamily="18" charset="0"/>
              </a:rPr>
              <a:t>UTP &amp; ITP</a:t>
            </a:r>
          </a:p>
        </p:txBody>
      </p:sp>
      <p:pic>
        <p:nvPicPr>
          <p:cNvPr id="6" name="Picture 5">
            <a:extLst>
              <a:ext uri="{FF2B5EF4-FFF2-40B4-BE49-F238E27FC236}">
                <a16:creationId xmlns:a16="http://schemas.microsoft.com/office/drawing/2014/main" id="{7DAF6118-A627-BC2A-2FB0-75EC87F3EF98}"/>
              </a:ext>
            </a:extLst>
          </p:cNvPr>
          <p:cNvPicPr>
            <a:picLocks noChangeAspect="1"/>
          </p:cNvPicPr>
          <p:nvPr/>
        </p:nvPicPr>
        <p:blipFill>
          <a:blip r:embed="rId2"/>
          <a:stretch>
            <a:fillRect/>
          </a:stretch>
        </p:blipFill>
        <p:spPr>
          <a:xfrm>
            <a:off x="1364700" y="1752599"/>
            <a:ext cx="9043500" cy="3733802"/>
          </a:xfrm>
          <a:prstGeom prst="rect">
            <a:avLst/>
          </a:prstGeom>
        </p:spPr>
      </p:pic>
      <p:sp>
        <p:nvSpPr>
          <p:cNvPr id="7" name="TextBox 6">
            <a:extLst>
              <a:ext uri="{FF2B5EF4-FFF2-40B4-BE49-F238E27FC236}">
                <a16:creationId xmlns:a16="http://schemas.microsoft.com/office/drawing/2014/main" id="{22673C0C-62D3-831C-4D08-FB475666E3DA}"/>
              </a:ext>
            </a:extLst>
          </p:cNvPr>
          <p:cNvSpPr txBox="1"/>
          <p:nvPr/>
        </p:nvSpPr>
        <p:spPr>
          <a:xfrm>
            <a:off x="1364700" y="1276349"/>
            <a:ext cx="2262542"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UTP – Unit Test Plan</a:t>
            </a:r>
          </a:p>
        </p:txBody>
      </p:sp>
    </p:spTree>
    <p:extLst>
      <p:ext uri="{BB962C8B-B14F-4D97-AF65-F5344CB8AC3E}">
        <p14:creationId xmlns:p14="http://schemas.microsoft.com/office/powerpoint/2010/main" val="33223784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061F0-405D-DA9D-9745-14436C5FBD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5CE1FF-CDD9-EB7A-7BEA-7685F1058C1C}"/>
              </a:ext>
            </a:extLst>
          </p:cNvPr>
          <p:cNvSpPr txBox="1"/>
          <p:nvPr/>
        </p:nvSpPr>
        <p:spPr>
          <a:xfrm>
            <a:off x="5199175" y="426720"/>
            <a:ext cx="2213876" cy="584775"/>
          </a:xfrm>
          <a:prstGeom prst="rect">
            <a:avLst/>
          </a:prstGeom>
          <a:noFill/>
        </p:spPr>
        <p:txBody>
          <a:bodyPr wrap="none" rtlCol="0">
            <a:spAutoFit/>
          </a:bodyPr>
          <a:lstStyle/>
          <a:p>
            <a:pPr algn="ctr"/>
            <a:r>
              <a:rPr lang="en-IN" sz="3200" b="1" u="sng" dirty="0">
                <a:latin typeface="Times New Roman" panose="02020603050405020304" pitchFamily="18" charset="0"/>
                <a:cs typeface="Times New Roman" panose="02020603050405020304" pitchFamily="18" charset="0"/>
              </a:rPr>
              <a:t>UTP &amp; ITP</a:t>
            </a:r>
          </a:p>
        </p:txBody>
      </p:sp>
      <p:sp>
        <p:nvSpPr>
          <p:cNvPr id="7" name="TextBox 6">
            <a:extLst>
              <a:ext uri="{FF2B5EF4-FFF2-40B4-BE49-F238E27FC236}">
                <a16:creationId xmlns:a16="http://schemas.microsoft.com/office/drawing/2014/main" id="{1CCD7995-289D-65B2-2139-81FE6EE4AA4E}"/>
              </a:ext>
            </a:extLst>
          </p:cNvPr>
          <p:cNvSpPr txBox="1"/>
          <p:nvPr/>
        </p:nvSpPr>
        <p:spPr>
          <a:xfrm>
            <a:off x="1364700" y="1276349"/>
            <a:ext cx="2865272"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ITP – Integration Test Plan</a:t>
            </a:r>
          </a:p>
        </p:txBody>
      </p:sp>
      <p:pic>
        <p:nvPicPr>
          <p:cNvPr id="8" name="Picture 7">
            <a:extLst>
              <a:ext uri="{FF2B5EF4-FFF2-40B4-BE49-F238E27FC236}">
                <a16:creationId xmlns:a16="http://schemas.microsoft.com/office/drawing/2014/main" id="{F6B29856-5A0D-1C2F-FA3F-4BF1C687D226}"/>
              </a:ext>
            </a:extLst>
          </p:cNvPr>
          <p:cNvPicPr>
            <a:picLocks noChangeAspect="1"/>
          </p:cNvPicPr>
          <p:nvPr/>
        </p:nvPicPr>
        <p:blipFill>
          <a:blip r:embed="rId2"/>
          <a:stretch>
            <a:fillRect/>
          </a:stretch>
        </p:blipFill>
        <p:spPr>
          <a:xfrm>
            <a:off x="1495425" y="1941549"/>
            <a:ext cx="8477250" cy="4403652"/>
          </a:xfrm>
          <a:prstGeom prst="rect">
            <a:avLst/>
          </a:prstGeom>
        </p:spPr>
      </p:pic>
    </p:spTree>
    <p:extLst>
      <p:ext uri="{BB962C8B-B14F-4D97-AF65-F5344CB8AC3E}">
        <p14:creationId xmlns:p14="http://schemas.microsoft.com/office/powerpoint/2010/main" val="2270377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532F2-E918-8EB5-057F-13CFA61430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D5C7031-F8BE-322B-B946-C5DBD28A049E}"/>
              </a:ext>
            </a:extLst>
          </p:cNvPr>
          <p:cNvSpPr txBox="1"/>
          <p:nvPr/>
        </p:nvSpPr>
        <p:spPr>
          <a:xfrm>
            <a:off x="5087167" y="406400"/>
            <a:ext cx="2017668" cy="1077218"/>
          </a:xfrm>
          <a:prstGeom prst="rect">
            <a:avLst/>
          </a:prstGeom>
          <a:noFill/>
        </p:spPr>
        <p:txBody>
          <a:bodyPr wrap="none" rtlCol="0">
            <a:spAutoFit/>
          </a:bodyPr>
          <a:lstStyle/>
          <a:p>
            <a:pPr algn="ctr"/>
            <a:r>
              <a:rPr lang="en-IN" sz="3200" b="1" u="sng" dirty="0">
                <a:latin typeface="Times New Roman" panose="02020603050405020304" pitchFamily="18" charset="0"/>
                <a:cs typeface="Times New Roman" panose="02020603050405020304" pitchFamily="18" charset="0"/>
              </a:rPr>
              <a:t>RESULTS</a:t>
            </a:r>
          </a:p>
          <a:p>
            <a:pPr algn="ctr"/>
            <a:endParaRPr lang="en-IN" sz="3200" b="1" u="sng"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C09CF8C-D546-57CA-A101-591EFFA0FA65}"/>
              </a:ext>
            </a:extLst>
          </p:cNvPr>
          <p:cNvPicPr>
            <a:picLocks noChangeAspect="1"/>
          </p:cNvPicPr>
          <p:nvPr/>
        </p:nvPicPr>
        <p:blipFill>
          <a:blip r:embed="rId2"/>
          <a:stretch>
            <a:fillRect/>
          </a:stretch>
        </p:blipFill>
        <p:spPr>
          <a:xfrm>
            <a:off x="2773680" y="1264920"/>
            <a:ext cx="6644640" cy="4328160"/>
          </a:xfrm>
          <a:prstGeom prst="rect">
            <a:avLst/>
          </a:prstGeom>
        </p:spPr>
      </p:pic>
      <p:sp>
        <p:nvSpPr>
          <p:cNvPr id="6" name="TextBox 5">
            <a:extLst>
              <a:ext uri="{FF2B5EF4-FFF2-40B4-BE49-F238E27FC236}">
                <a16:creationId xmlns:a16="http://schemas.microsoft.com/office/drawing/2014/main" id="{95EEB543-6CFC-D5CD-E18C-19858AB9B52B}"/>
              </a:ext>
            </a:extLst>
          </p:cNvPr>
          <p:cNvSpPr txBox="1"/>
          <p:nvPr/>
        </p:nvSpPr>
        <p:spPr>
          <a:xfrm>
            <a:off x="5188957" y="5800725"/>
            <a:ext cx="1814086"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Weapon Detected</a:t>
            </a:r>
          </a:p>
        </p:txBody>
      </p:sp>
    </p:spTree>
    <p:extLst>
      <p:ext uri="{BB962C8B-B14F-4D97-AF65-F5344CB8AC3E}">
        <p14:creationId xmlns:p14="http://schemas.microsoft.com/office/powerpoint/2010/main" val="147983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16842-C645-358B-4E62-54F65191D1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F93BD38-4B36-080D-0509-1876D167BD6C}"/>
              </a:ext>
            </a:extLst>
          </p:cNvPr>
          <p:cNvSpPr txBox="1"/>
          <p:nvPr/>
        </p:nvSpPr>
        <p:spPr>
          <a:xfrm>
            <a:off x="5087167" y="406400"/>
            <a:ext cx="2017668" cy="1077218"/>
          </a:xfrm>
          <a:prstGeom prst="rect">
            <a:avLst/>
          </a:prstGeom>
          <a:noFill/>
        </p:spPr>
        <p:txBody>
          <a:bodyPr wrap="none" rtlCol="0">
            <a:spAutoFit/>
          </a:bodyPr>
          <a:lstStyle/>
          <a:p>
            <a:pPr algn="ctr"/>
            <a:r>
              <a:rPr lang="en-IN" sz="3200" b="1" u="sng" dirty="0">
                <a:latin typeface="Times New Roman" panose="02020603050405020304" pitchFamily="18" charset="0"/>
                <a:cs typeface="Times New Roman" panose="02020603050405020304" pitchFamily="18" charset="0"/>
              </a:rPr>
              <a:t>RESULTS</a:t>
            </a:r>
          </a:p>
          <a:p>
            <a:pPr algn="ctr"/>
            <a:endParaRPr lang="en-IN" sz="3200" b="1" u="sng"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D166CB4-D30F-4437-F127-6EE187F4E9DC}"/>
              </a:ext>
            </a:extLst>
          </p:cNvPr>
          <p:cNvSpPr txBox="1"/>
          <p:nvPr/>
        </p:nvSpPr>
        <p:spPr>
          <a:xfrm>
            <a:off x="1636132" y="5867400"/>
            <a:ext cx="1165768"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SMS Alert</a:t>
            </a:r>
          </a:p>
        </p:txBody>
      </p:sp>
      <p:pic>
        <p:nvPicPr>
          <p:cNvPr id="10" name="Picture 9">
            <a:extLst>
              <a:ext uri="{FF2B5EF4-FFF2-40B4-BE49-F238E27FC236}">
                <a16:creationId xmlns:a16="http://schemas.microsoft.com/office/drawing/2014/main" id="{4DD8CAEE-5105-0647-EE81-2A42FA6F2F3F}"/>
              </a:ext>
            </a:extLst>
          </p:cNvPr>
          <p:cNvPicPr>
            <a:picLocks noChangeAspect="1"/>
          </p:cNvPicPr>
          <p:nvPr/>
        </p:nvPicPr>
        <p:blipFill>
          <a:blip r:embed="rId2"/>
          <a:stretch>
            <a:fillRect/>
          </a:stretch>
        </p:blipFill>
        <p:spPr>
          <a:xfrm>
            <a:off x="1511063" y="1123950"/>
            <a:ext cx="2064224" cy="4610100"/>
          </a:xfrm>
          <a:prstGeom prst="rect">
            <a:avLst/>
          </a:prstGeom>
        </p:spPr>
      </p:pic>
      <p:pic>
        <p:nvPicPr>
          <p:cNvPr id="12" name="Picture 11">
            <a:extLst>
              <a:ext uri="{FF2B5EF4-FFF2-40B4-BE49-F238E27FC236}">
                <a16:creationId xmlns:a16="http://schemas.microsoft.com/office/drawing/2014/main" id="{17442D26-BBAF-1C74-3753-B0E9FCEEF6DA}"/>
              </a:ext>
            </a:extLst>
          </p:cNvPr>
          <p:cNvPicPr>
            <a:picLocks noChangeAspect="1"/>
          </p:cNvPicPr>
          <p:nvPr/>
        </p:nvPicPr>
        <p:blipFill>
          <a:blip r:embed="rId3"/>
          <a:stretch>
            <a:fillRect/>
          </a:stretch>
        </p:blipFill>
        <p:spPr>
          <a:xfrm>
            <a:off x="4491990" y="2175510"/>
            <a:ext cx="7360920" cy="3558540"/>
          </a:xfrm>
          <a:prstGeom prst="rect">
            <a:avLst/>
          </a:prstGeom>
        </p:spPr>
      </p:pic>
      <p:sp>
        <p:nvSpPr>
          <p:cNvPr id="13" name="TextBox 12">
            <a:extLst>
              <a:ext uri="{FF2B5EF4-FFF2-40B4-BE49-F238E27FC236}">
                <a16:creationId xmlns:a16="http://schemas.microsoft.com/office/drawing/2014/main" id="{0E900F3C-171D-68E5-B99D-2A3725A6FF18}"/>
              </a:ext>
            </a:extLst>
          </p:cNvPr>
          <p:cNvSpPr txBox="1"/>
          <p:nvPr/>
        </p:nvSpPr>
        <p:spPr>
          <a:xfrm>
            <a:off x="6655807" y="5791200"/>
            <a:ext cx="1255537"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Email Alert</a:t>
            </a:r>
          </a:p>
        </p:txBody>
      </p:sp>
    </p:spTree>
    <p:extLst>
      <p:ext uri="{BB962C8B-B14F-4D97-AF65-F5344CB8AC3E}">
        <p14:creationId xmlns:p14="http://schemas.microsoft.com/office/powerpoint/2010/main" val="8546323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19859-B7B0-BB98-FFCB-41AC4059C3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8B79E9-CEA1-15AE-43AC-D0F98FA183D2}"/>
              </a:ext>
            </a:extLst>
          </p:cNvPr>
          <p:cNvSpPr txBox="1"/>
          <p:nvPr/>
        </p:nvSpPr>
        <p:spPr>
          <a:xfrm>
            <a:off x="4612260" y="406400"/>
            <a:ext cx="2967479" cy="1077218"/>
          </a:xfrm>
          <a:prstGeom prst="rect">
            <a:avLst/>
          </a:prstGeom>
          <a:noFill/>
        </p:spPr>
        <p:txBody>
          <a:bodyPr wrap="none" rtlCol="0">
            <a:spAutoFit/>
          </a:bodyPr>
          <a:lstStyle/>
          <a:p>
            <a:pPr algn="ctr"/>
            <a:r>
              <a:rPr lang="en-IN" sz="3200" b="1" u="sng" dirty="0">
                <a:latin typeface="Times New Roman" panose="02020603050405020304" pitchFamily="18" charset="0"/>
                <a:cs typeface="Times New Roman" panose="02020603050405020304" pitchFamily="18" charset="0"/>
              </a:rPr>
              <a:t>CONCLUSION</a:t>
            </a:r>
          </a:p>
          <a:p>
            <a:pPr algn="ctr"/>
            <a:endParaRPr lang="en-IN" sz="3200" b="1" u="sng"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274362E-4619-D385-A93C-7E87E1934C67}"/>
              </a:ext>
            </a:extLst>
          </p:cNvPr>
          <p:cNvSpPr txBox="1"/>
          <p:nvPr/>
        </p:nvSpPr>
        <p:spPr>
          <a:xfrm>
            <a:off x="772086" y="945009"/>
            <a:ext cx="11125200" cy="4108817"/>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Summary:</a:t>
            </a: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project develops a Real-Time Weapon Detection System using YOLOv8, OpenCV, Django.</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Stores detected frames, and instant alerts are sent for rapid security responses.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aims to improve public safety and security through accurate and timely weapon detection.</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Expected Outcomes:</a:t>
            </a: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Real-time detection of weapons with high accuracy.</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Instant alerts for security personnel.</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Scalable deployment and efficient data management.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42406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433E8-B54A-7097-B018-70BCD459B8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DDE19C-D803-FC3D-7089-82A361884723}"/>
              </a:ext>
            </a:extLst>
          </p:cNvPr>
          <p:cNvSpPr txBox="1"/>
          <p:nvPr/>
        </p:nvSpPr>
        <p:spPr>
          <a:xfrm>
            <a:off x="4612260" y="406400"/>
            <a:ext cx="2967479" cy="1077218"/>
          </a:xfrm>
          <a:prstGeom prst="rect">
            <a:avLst/>
          </a:prstGeom>
          <a:noFill/>
        </p:spPr>
        <p:txBody>
          <a:bodyPr wrap="none" rtlCol="0">
            <a:spAutoFit/>
          </a:bodyPr>
          <a:lstStyle/>
          <a:p>
            <a:pPr algn="ctr"/>
            <a:r>
              <a:rPr lang="en-IN" sz="3200" b="1" u="sng" dirty="0">
                <a:latin typeface="Times New Roman" panose="02020603050405020304" pitchFamily="18" charset="0"/>
                <a:cs typeface="Times New Roman" panose="02020603050405020304" pitchFamily="18" charset="0"/>
              </a:rPr>
              <a:t>CONCLUSION</a:t>
            </a:r>
          </a:p>
          <a:p>
            <a:pPr algn="ctr"/>
            <a:endParaRPr lang="en-IN" sz="3200" b="1" u="sng"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3B3C6BA-D028-975F-FAA8-3383B0D15BDC}"/>
              </a:ext>
            </a:extLst>
          </p:cNvPr>
          <p:cNvSpPr txBox="1"/>
          <p:nvPr/>
        </p:nvSpPr>
        <p:spPr>
          <a:xfrm>
            <a:off x="724461" y="1097409"/>
            <a:ext cx="11125200" cy="184306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Future Scope:</a:t>
            </a:r>
          </a:p>
          <a:p>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Expand detection to other threats (e.g., </a:t>
            </a:r>
            <a:r>
              <a:rPr lang="en-US" b="1" dirty="0">
                <a:latin typeface="Times New Roman" panose="02020603050405020304" pitchFamily="18" charset="0"/>
                <a:cs typeface="Times New Roman" panose="02020603050405020304" pitchFamily="18" charset="0"/>
              </a:rPr>
              <a:t>explosives).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 </a:t>
            </a:r>
            <a:r>
              <a:rPr lang="en-US" b="1" dirty="0">
                <a:latin typeface="Times New Roman" panose="02020603050405020304" pitchFamily="18" charset="0"/>
                <a:cs typeface="Times New Roman" panose="02020603050405020304" pitchFamily="18" charset="0"/>
              </a:rPr>
              <a:t>adaptability</a:t>
            </a:r>
            <a:r>
              <a:rPr lang="en-US" dirty="0">
                <a:latin typeface="Times New Roman" panose="02020603050405020304" pitchFamily="18" charset="0"/>
                <a:cs typeface="Times New Roman" panose="02020603050405020304" pitchFamily="18" charset="0"/>
              </a:rPr>
              <a:t> for different environments.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Smart city and public safety integration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15270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8" name="Picture Placeholder 7" descr="White DNA structure">
            <a:extLst>
              <a:ext uri="{FF2B5EF4-FFF2-40B4-BE49-F238E27FC236}">
                <a16:creationId xmlns:a16="http://schemas.microsoft.com/office/drawing/2014/main" id="{DC23EB2B-2285-3C42-31D8-4D87E34CF22C}"/>
              </a:ext>
            </a:extLst>
          </p:cNvPr>
          <p:cNvPicPr>
            <a:picLocks noGrp="1" noChangeAspect="1"/>
          </p:cNvPicPr>
          <p:nvPr>
            <p:ph type="pic" sz="quarter" idx="13"/>
          </p:nvPr>
        </p:nvPicPr>
        <p:blipFill>
          <a:blip r:embed="rId2"/>
          <a:srcRect l="5" r="5"/>
          <a:stretch/>
        </p:blipFill>
        <p:spPr>
          <a:xfrm>
            <a:off x="1524000" y="1685312"/>
            <a:ext cx="9144000" cy="3895344"/>
          </a:xfrm>
        </p:spPr>
      </p:pic>
      <p:sp>
        <p:nvSpPr>
          <p:cNvPr id="2" name="TextBox 1">
            <a:extLst>
              <a:ext uri="{FF2B5EF4-FFF2-40B4-BE49-F238E27FC236}">
                <a16:creationId xmlns:a16="http://schemas.microsoft.com/office/drawing/2014/main" id="{42B88C30-DDE5-0D1A-8061-5F2B080AD461}"/>
              </a:ext>
            </a:extLst>
          </p:cNvPr>
          <p:cNvSpPr txBox="1"/>
          <p:nvPr/>
        </p:nvSpPr>
        <p:spPr>
          <a:xfrm>
            <a:off x="1647825" y="1647825"/>
            <a:ext cx="8934450" cy="3539430"/>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Developed By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Kolloju Srinivas Bharath Raj</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GitHub Repository</a:t>
            </a:r>
          </a:p>
          <a:p>
            <a:r>
              <a:rPr lang="en-IN" sz="1600" dirty="0">
                <a:latin typeface="Times New Roman" panose="02020603050405020304" pitchFamily="18" charset="0"/>
                <a:cs typeface="Times New Roman" panose="02020603050405020304" pitchFamily="18" charset="0"/>
                <a:hlinkClick r:id="rId3"/>
              </a:rPr>
              <a:t>https://github.com/bharathraj1024/AI-Driven-Smart-Surveillance-for-Weapon-Detection-Using-YOLOv8</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Demo Video</a:t>
            </a:r>
            <a:br>
              <a:rPr lang="en-IN" sz="1600">
                <a:latin typeface="Times New Roman" panose="02020603050405020304" pitchFamily="18" charset="0"/>
                <a:cs typeface="Times New Roman" panose="02020603050405020304" pitchFamily="18" charset="0"/>
              </a:rPr>
            </a:br>
            <a:r>
              <a:rPr lang="en-IN" sz="1600">
                <a:latin typeface="Times New Roman" panose="02020603050405020304" pitchFamily="18" charset="0"/>
                <a:cs typeface="Times New Roman" panose="02020603050405020304" pitchFamily="18" charset="0"/>
                <a:hlinkClick r:id="rId4"/>
              </a:rPr>
              <a:t>https://youtu.be/vkhxaQHgLU0?si=3aFgimUsW_8EpK3y</a:t>
            </a:r>
            <a:endParaRPr lang="en-IN" sz="1600">
              <a:latin typeface="Times New Roman" panose="02020603050405020304" pitchFamily="18" charset="0"/>
              <a:cs typeface="Times New Roman" panose="02020603050405020304" pitchFamily="18" charset="0"/>
            </a:endParaRPr>
          </a:p>
          <a:p>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Portfolio</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hlinkClick r:id="rId5"/>
              </a:rPr>
              <a:t>https://react-portfolio-ochre-gamma.vercel.app/</a:t>
            </a:r>
            <a:br>
              <a:rPr lang="en-IN" sz="1600" dirty="0">
                <a:latin typeface="Times New Roman" panose="02020603050405020304" pitchFamily="18" charset="0"/>
                <a:cs typeface="Times New Roman" panose="02020603050405020304" pitchFamily="18" charset="0"/>
              </a:rPr>
            </a:b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For academic or project-related queries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hlinkClick r:id="rId6"/>
              </a:rPr>
              <a:t>bharathraj1024@gmail.com</a:t>
            </a:r>
            <a:endParaRPr lang="en-IN" sz="1600"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79BA2B86-3851-CA8F-E2BD-86641AEBF07C}"/>
              </a:ext>
            </a:extLst>
          </p:cNvPr>
          <p:cNvSpPr txBox="1">
            <a:spLocks/>
          </p:cNvSpPr>
          <p:nvPr/>
        </p:nvSpPr>
        <p:spPr>
          <a:xfrm>
            <a:off x="1226820" y="453121"/>
            <a:ext cx="9738360" cy="914400"/>
          </a:xfrm>
          <a:prstGeom prst="rect">
            <a:avLst/>
          </a:prstGeom>
          <a:noFill/>
        </p:spPr>
        <p:txBody>
          <a:bodyPr>
            <a:noAutofit/>
          </a:bodyPr>
          <a:lstStyle>
            <a:lvl1pPr marL="228600" indent="-457200" algn="l" defTabSz="914400" rtl="0" eaLnBrk="1" latinLnBrk="0" hangingPunct="1">
              <a:lnSpc>
                <a:spcPct val="100000"/>
              </a:lnSpc>
              <a:spcBef>
                <a:spcPts val="1000"/>
              </a:spcBef>
              <a:buClr>
                <a:schemeClr val="accent1"/>
              </a:buClr>
              <a:buFont typeface="Courier New" panose="02070309020205020404" pitchFamily="49" charset="0"/>
              <a:buChar char="o"/>
              <a:defRPr sz="2400" b="0" i="0" kern="1200" cap="none" baseline="0">
                <a:solidFill>
                  <a:schemeClr val="tx1"/>
                </a:solidFill>
                <a:latin typeface="+mn-lt"/>
                <a:ea typeface="+mn-ea"/>
                <a:cs typeface="+mn-cs"/>
              </a:defRPr>
            </a:lvl1pPr>
            <a:lvl2pPr marL="685800" indent="-457200" algn="l" defTabSz="914400" rtl="0" eaLnBrk="1" latinLnBrk="0" hangingPunct="1">
              <a:lnSpc>
                <a:spcPct val="100000"/>
              </a:lnSpc>
              <a:spcBef>
                <a:spcPts val="500"/>
              </a:spcBef>
              <a:buClr>
                <a:schemeClr val="accent1"/>
              </a:buClr>
              <a:buFont typeface="Courier New" panose="02070309020205020404" pitchFamily="49" charset="0"/>
              <a:buChar char="o"/>
              <a:defRPr sz="2000" b="0" i="0" kern="1200" baseline="0">
                <a:solidFill>
                  <a:schemeClr val="tx1"/>
                </a:solidFill>
                <a:latin typeface="+mn-lt"/>
                <a:ea typeface="+mn-ea"/>
                <a:cs typeface="+mn-cs"/>
              </a:defRPr>
            </a:lvl2pPr>
            <a:lvl3pPr marL="1143000" indent="-457200" algn="l" defTabSz="914400" rtl="0" eaLnBrk="1" latinLnBrk="0" hangingPunct="1">
              <a:lnSpc>
                <a:spcPct val="100000"/>
              </a:lnSpc>
              <a:spcBef>
                <a:spcPts val="500"/>
              </a:spcBef>
              <a:buClr>
                <a:schemeClr val="accent1"/>
              </a:buClr>
              <a:buFont typeface="Courier New" panose="02070309020205020404" pitchFamily="49" charset="0"/>
              <a:buChar char="o"/>
              <a:defRPr sz="1800" b="0" i="0" kern="1200" baseline="0">
                <a:solidFill>
                  <a:schemeClr val="tx1"/>
                </a:solidFill>
                <a:latin typeface="+mn-lt"/>
                <a:ea typeface="+mn-ea"/>
                <a:cs typeface="+mn-cs"/>
              </a:defRPr>
            </a:lvl3pPr>
            <a:lvl4pPr marL="1600200" indent="-457200" algn="l" defTabSz="914400" rtl="0" eaLnBrk="1" latinLnBrk="0" hangingPunct="1">
              <a:lnSpc>
                <a:spcPct val="100000"/>
              </a:lnSpc>
              <a:spcBef>
                <a:spcPts val="500"/>
              </a:spcBef>
              <a:buClr>
                <a:schemeClr val="accent1"/>
              </a:buClr>
              <a:buFont typeface="Courier New" panose="02070309020205020404" pitchFamily="49" charset="0"/>
              <a:buChar char="o"/>
              <a:defRPr sz="1600" b="0" i="0" kern="1200" baseline="0">
                <a:solidFill>
                  <a:schemeClr val="tx1"/>
                </a:solidFill>
                <a:latin typeface="+mn-lt"/>
                <a:ea typeface="+mn-ea"/>
                <a:cs typeface="+mn-cs"/>
              </a:defRPr>
            </a:lvl4pPr>
            <a:lvl5pPr marL="2057400" indent="-457200" algn="l" defTabSz="914400" rtl="0" eaLnBrk="1" latinLnBrk="0" hangingPunct="1">
              <a:lnSpc>
                <a:spcPct val="100000"/>
              </a:lnSpc>
              <a:spcBef>
                <a:spcPts val="500"/>
              </a:spcBef>
              <a:buClr>
                <a:schemeClr val="accent1"/>
              </a:buClr>
              <a:buFont typeface="Courier New" panose="02070309020205020404" pitchFamily="49" charset="0"/>
              <a:buChar char="o"/>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200" b="1" dirty="0">
                <a:latin typeface="Times New Roman" panose="02020603050405020304" pitchFamily="18" charset="0"/>
                <a:cs typeface="Times New Roman" panose="02020603050405020304" pitchFamily="18" charset="0"/>
              </a:rPr>
              <a:t>AI – DRIVEN SMART SURVEILLANCE FOR WEAPON DETECTION USING YOLOv8</a:t>
            </a:r>
          </a:p>
        </p:txBody>
      </p:sp>
    </p:spTree>
    <p:extLst>
      <p:ext uri="{BB962C8B-B14F-4D97-AF65-F5344CB8AC3E}">
        <p14:creationId xmlns:p14="http://schemas.microsoft.com/office/powerpoint/2010/main" val="3058085568"/>
      </p:ext>
    </p:extLst>
  </p:cSld>
  <p:clrMapOvr>
    <a:masterClrMapping/>
  </p:clrMapOvr>
</p:sld>
</file>

<file path=ppt/theme/theme1.xml><?xml version="1.0" encoding="utf-8"?>
<a:theme xmlns:a="http://schemas.openxmlformats.org/drawingml/2006/main" name="Custom">
  <a:themeElements>
    <a:clrScheme name="Scientific Discovery">
      <a:dk1>
        <a:srgbClr val="000000"/>
      </a:dk1>
      <a:lt1>
        <a:srgbClr val="FFFFFF"/>
      </a:lt1>
      <a:dk2>
        <a:srgbClr val="44546A"/>
      </a:dk2>
      <a:lt2>
        <a:srgbClr val="E7E6E6"/>
      </a:lt2>
      <a:accent1>
        <a:srgbClr val="96D3ED"/>
      </a:accent1>
      <a:accent2>
        <a:srgbClr val="C7DBE1"/>
      </a:accent2>
      <a:accent3>
        <a:srgbClr val="688EBD"/>
      </a:accent3>
      <a:accent4>
        <a:srgbClr val="BCE5DD"/>
      </a:accent4>
      <a:accent5>
        <a:srgbClr val="66DDCC"/>
      </a:accent5>
      <a:accent6>
        <a:srgbClr val="E0CE61"/>
      </a:accent6>
      <a:hlink>
        <a:srgbClr val="0563C1"/>
      </a:hlink>
      <a:folHlink>
        <a:srgbClr val="954F72"/>
      </a:folHlink>
    </a:clrScheme>
    <a:fontScheme name="Custom 36">
      <a:majorFont>
        <a:latin typeface="Posterama"/>
        <a:ea typeface=""/>
        <a:cs typeface=""/>
      </a:majorFont>
      <a:minorFont>
        <a:latin typeface="Daytona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cientific discovery_V1_win32_EF_v3" id="{70008AEC-EDED-4511-BBCB-3094E155874B}" vid="{20F39DC6-8556-4458-8AAA-5D2B51347C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9A734A7-6096-47AA-9737-CDF62701A0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F8397A0-8C35-4EEE-8E61-47C914415B57}">
  <ds:schemaRefs>
    <ds:schemaRef ds:uri="http://schemas.microsoft.com/sharepoint/v3/contenttype/forms"/>
  </ds:schemaRefs>
</ds:datastoreItem>
</file>

<file path=customXml/itemProps3.xml><?xml version="1.0" encoding="utf-8"?>
<ds:datastoreItem xmlns:ds="http://schemas.openxmlformats.org/officeDocument/2006/customXml" ds:itemID="{B881D8D6-8849-400B-8BC9-21D401C7DD0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{CB442324-1F84-469E-9117-41AED2FCF3D9}tf67061901_win32</Template>
  <TotalTime>1214</TotalTime>
  <Words>1142</Words>
  <Application>Microsoft Office PowerPoint</Application>
  <PresentationFormat>Widescreen</PresentationFormat>
  <Paragraphs>345</Paragraphs>
  <Slides>26</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Courier New</vt:lpstr>
      <vt:lpstr>Daytona Condensed Light</vt:lpstr>
      <vt:lpstr>Posterama</vt:lpstr>
      <vt:lpstr>Times New Roman</vt:lpstr>
      <vt:lpstr>Custom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Murali Krishna K S</dc:creator>
  <cp:lastModifiedBy>Murali Krishna K S</cp:lastModifiedBy>
  <cp:revision>136</cp:revision>
  <dcterms:created xsi:type="dcterms:W3CDTF">2025-02-11T09:59:20Z</dcterms:created>
  <dcterms:modified xsi:type="dcterms:W3CDTF">2026-05-26T09:04:14Z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